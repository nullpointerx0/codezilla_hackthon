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57" r:id="rId3"/>
    <p:sldId id="258" r:id="rId4"/>
    <p:sldId id="259" r:id="rId5"/>
    <p:sldId id="267" r:id="rId6"/>
    <p:sldId id="260" r:id="rId7"/>
    <p:sldId id="266" r:id="rId8"/>
    <p:sldId id="261" r:id="rId9"/>
    <p:sldId id="263" r:id="rId10"/>
    <p:sldId id="264"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60"/>
  </p:normalViewPr>
  <p:slideViewPr>
    <p:cSldViewPr snapToGrid="0">
      <p:cViewPr varScale="1">
        <p:scale>
          <a:sx n="81" d="100"/>
          <a:sy n="81" d="100"/>
        </p:scale>
        <p:origin x="70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imes New Roman" panose="02020603050405020304" pitchFamily="18" charset="0"/>
              </a:defRPr>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imes New Roman" panose="02020603050405020304" pitchFamily="18" charset="0"/>
              </a:defRPr>
            </a:lvl1pPr>
          </a:lstStyle>
          <a:p>
            <a:fld id="{C7D8887C-7EF0-4836-BEBD-6849D3724569}" type="datetimeFigureOut">
              <a:rPr lang="en-IN" smtClean="0"/>
              <a:pPr/>
              <a:t>05-12-2025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imes New Roman" panose="02020603050405020304" pitchFamily="18" charset="0"/>
              </a:defRPr>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imes New Roman" panose="02020603050405020304" pitchFamily="18" charset="0"/>
              </a:defRPr>
            </a:lvl1pPr>
          </a:lstStyle>
          <a:p>
            <a:fld id="{D1EED570-12FC-41A8-A6BD-EC279C6036D6}" type="slidenum">
              <a:rPr lang="en-IN" smtClean="0"/>
              <a:pPr/>
              <a:t>‹#›</a:t>
            </a:fld>
            <a:endParaRPr lang="en-IN" dirty="0"/>
          </a:p>
        </p:txBody>
      </p:sp>
    </p:spTree>
    <p:extLst>
      <p:ext uri="{BB962C8B-B14F-4D97-AF65-F5344CB8AC3E}">
        <p14:creationId xmlns:p14="http://schemas.microsoft.com/office/powerpoint/2010/main" val="2167739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mes New Roman" panose="02020603050405020304" pitchFamily="18"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EED570-12FC-41A8-A6BD-EC279C6036D6}" type="slidenum">
              <a:rPr lang="en-IN" smtClean="0"/>
              <a:pPr/>
              <a:t>4</a:t>
            </a:fld>
            <a:endParaRPr lang="en-IN" dirty="0"/>
          </a:p>
        </p:txBody>
      </p:sp>
    </p:spTree>
    <p:extLst>
      <p:ext uri="{BB962C8B-B14F-4D97-AF65-F5344CB8AC3E}">
        <p14:creationId xmlns:p14="http://schemas.microsoft.com/office/powerpoint/2010/main" val="189691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46662CF-6AAB-41E5-9F59-5F9821C23A07}" type="datetime1">
              <a:rPr lang="en-IN" smtClean="0"/>
              <a:t>05-12-2025</a:t>
            </a:fld>
            <a:endParaRPr lang="en-IN"/>
          </a:p>
        </p:txBody>
      </p:sp>
      <p:sp>
        <p:nvSpPr>
          <p:cNvPr id="5" name="Footer Placeholder 4"/>
          <p:cNvSpPr>
            <a:spLocks noGrp="1"/>
          </p:cNvSpPr>
          <p:nvPr>
            <p:ph type="ftr" sz="quarter" idx="11"/>
          </p:nvPr>
        </p:nvSpPr>
        <p:spPr/>
        <p:txBody>
          <a:bodyPr/>
          <a:lstStyle/>
          <a:p>
            <a:r>
              <a:rPr lang="en-US"/>
              <a:t>8th Mile X Overnight Hackathon</a:t>
            </a:r>
            <a:endParaRPr lang="en-IN"/>
          </a:p>
        </p:txBody>
      </p:sp>
      <p:sp>
        <p:nvSpPr>
          <p:cNvPr id="6" name="Slide Number Placeholder 5"/>
          <p:cNvSpPr>
            <a:spLocks noGrp="1"/>
          </p:cNvSpPr>
          <p:nvPr>
            <p:ph type="sldNum" sz="quarter" idx="12"/>
          </p:nvPr>
        </p:nvSpPr>
        <p:spPr/>
        <p:txBody>
          <a:bodyPr/>
          <a:lstStyle/>
          <a:p>
            <a:fld id="{9E7A7228-CC1B-43A0-B0BD-71BB82C556D5}" type="slidenum">
              <a:rPr lang="en-IN" smtClean="0"/>
              <a:t>‹#›</a:t>
            </a:fld>
            <a:endParaRPr lang="en-IN"/>
          </a:p>
        </p:txBody>
      </p:sp>
    </p:spTree>
    <p:extLst>
      <p:ext uri="{BB962C8B-B14F-4D97-AF65-F5344CB8AC3E}">
        <p14:creationId xmlns:p14="http://schemas.microsoft.com/office/powerpoint/2010/main" val="2229884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870723-934B-4C5C-8E11-E1A0D01FA804}" type="datetime1">
              <a:rPr lang="en-IN" smtClean="0"/>
              <a:t>05-12-2025</a:t>
            </a:fld>
            <a:endParaRPr lang="en-IN"/>
          </a:p>
        </p:txBody>
      </p:sp>
      <p:sp>
        <p:nvSpPr>
          <p:cNvPr id="5" name="Footer Placeholder 4"/>
          <p:cNvSpPr>
            <a:spLocks noGrp="1"/>
          </p:cNvSpPr>
          <p:nvPr>
            <p:ph type="ftr" sz="quarter" idx="11"/>
          </p:nvPr>
        </p:nvSpPr>
        <p:spPr/>
        <p:txBody>
          <a:bodyPr/>
          <a:lstStyle/>
          <a:p>
            <a:r>
              <a:rPr lang="en-US"/>
              <a:t>8th Mile X Overnight Hackathon</a:t>
            </a:r>
            <a:endParaRPr lang="en-IN"/>
          </a:p>
        </p:txBody>
      </p:sp>
      <p:sp>
        <p:nvSpPr>
          <p:cNvPr id="6" name="Slide Number Placeholder 5"/>
          <p:cNvSpPr>
            <a:spLocks noGrp="1"/>
          </p:cNvSpPr>
          <p:nvPr>
            <p:ph type="sldNum" sz="quarter" idx="12"/>
          </p:nvPr>
        </p:nvSpPr>
        <p:spPr/>
        <p:txBody>
          <a:bodyPr/>
          <a:lstStyle/>
          <a:p>
            <a:fld id="{9E7A7228-CC1B-43A0-B0BD-71BB82C556D5}" type="slidenum">
              <a:rPr lang="en-IN" smtClean="0"/>
              <a:t>‹#›</a:t>
            </a:fld>
            <a:endParaRPr lang="en-IN"/>
          </a:p>
        </p:txBody>
      </p:sp>
    </p:spTree>
    <p:extLst>
      <p:ext uri="{BB962C8B-B14F-4D97-AF65-F5344CB8AC3E}">
        <p14:creationId xmlns:p14="http://schemas.microsoft.com/office/powerpoint/2010/main" val="71936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316D70-AEA4-4737-B110-42188A0D2734}" type="datetime1">
              <a:rPr lang="en-IN" smtClean="0"/>
              <a:t>05-12-2025</a:t>
            </a:fld>
            <a:endParaRPr lang="en-IN"/>
          </a:p>
        </p:txBody>
      </p:sp>
      <p:sp>
        <p:nvSpPr>
          <p:cNvPr id="5" name="Footer Placeholder 4"/>
          <p:cNvSpPr>
            <a:spLocks noGrp="1"/>
          </p:cNvSpPr>
          <p:nvPr>
            <p:ph type="ftr" sz="quarter" idx="11"/>
          </p:nvPr>
        </p:nvSpPr>
        <p:spPr/>
        <p:txBody>
          <a:bodyPr/>
          <a:lstStyle/>
          <a:p>
            <a:r>
              <a:rPr lang="en-US"/>
              <a:t>8th Mile X Overnight Hackathon</a:t>
            </a:r>
            <a:endParaRPr lang="en-IN"/>
          </a:p>
        </p:txBody>
      </p:sp>
      <p:sp>
        <p:nvSpPr>
          <p:cNvPr id="6" name="Slide Number Placeholder 5"/>
          <p:cNvSpPr>
            <a:spLocks noGrp="1"/>
          </p:cNvSpPr>
          <p:nvPr>
            <p:ph type="sldNum" sz="quarter" idx="12"/>
          </p:nvPr>
        </p:nvSpPr>
        <p:spPr/>
        <p:txBody>
          <a:bodyPr/>
          <a:lstStyle/>
          <a:p>
            <a:fld id="{9E7A7228-CC1B-43A0-B0BD-71BB82C556D5}" type="slidenum">
              <a:rPr lang="en-IN" smtClean="0"/>
              <a:t>‹#›</a:t>
            </a:fld>
            <a:endParaRPr lang="en-IN"/>
          </a:p>
        </p:txBody>
      </p:sp>
    </p:spTree>
    <p:extLst>
      <p:ext uri="{BB962C8B-B14F-4D97-AF65-F5344CB8AC3E}">
        <p14:creationId xmlns:p14="http://schemas.microsoft.com/office/powerpoint/2010/main" val="3250351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32AFAF-C2C2-4F1D-A9E2-FBD526C52A90}" type="datetime1">
              <a:rPr lang="en-IN" smtClean="0"/>
              <a:t>05-12-2025</a:t>
            </a:fld>
            <a:endParaRPr lang="en-IN"/>
          </a:p>
        </p:txBody>
      </p:sp>
      <p:sp>
        <p:nvSpPr>
          <p:cNvPr id="6" name="Footer Placeholder 5"/>
          <p:cNvSpPr>
            <a:spLocks noGrp="1"/>
          </p:cNvSpPr>
          <p:nvPr>
            <p:ph type="ftr" sz="quarter" idx="11"/>
          </p:nvPr>
        </p:nvSpPr>
        <p:spPr/>
        <p:txBody>
          <a:bodyPr/>
          <a:lstStyle/>
          <a:p>
            <a:r>
              <a:rPr lang="en-US"/>
              <a:t>8th Mile X Overnight Hackathon</a:t>
            </a:r>
            <a:endParaRPr lang="en-IN"/>
          </a:p>
        </p:txBody>
      </p:sp>
      <p:sp>
        <p:nvSpPr>
          <p:cNvPr id="7" name="Slide Number Placeholder 6"/>
          <p:cNvSpPr>
            <a:spLocks noGrp="1"/>
          </p:cNvSpPr>
          <p:nvPr>
            <p:ph type="sldNum" sz="quarter" idx="12"/>
          </p:nvPr>
        </p:nvSpPr>
        <p:spPr/>
        <p:txBody>
          <a:bodyPr/>
          <a:lstStyle/>
          <a:p>
            <a:fld id="{9E7A7228-CC1B-43A0-B0BD-71BB82C556D5}" type="slidenum">
              <a:rPr lang="en-IN" smtClean="0"/>
              <a:t>‹#›</a:t>
            </a:fld>
            <a:endParaRPr lang="en-IN"/>
          </a:p>
        </p:txBody>
      </p:sp>
    </p:spTree>
    <p:extLst>
      <p:ext uri="{BB962C8B-B14F-4D97-AF65-F5344CB8AC3E}">
        <p14:creationId xmlns:p14="http://schemas.microsoft.com/office/powerpoint/2010/main" val="3413382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41017F2-7850-43DB-87C4-6B69E3351041}" type="datetime1">
              <a:rPr lang="en-IN" smtClean="0"/>
              <a:t>05-12-2025</a:t>
            </a:fld>
            <a:endParaRPr lang="en-IN"/>
          </a:p>
        </p:txBody>
      </p:sp>
      <p:sp>
        <p:nvSpPr>
          <p:cNvPr id="8" name="Footer Placeholder 7"/>
          <p:cNvSpPr>
            <a:spLocks noGrp="1"/>
          </p:cNvSpPr>
          <p:nvPr>
            <p:ph type="ftr" sz="quarter" idx="11"/>
          </p:nvPr>
        </p:nvSpPr>
        <p:spPr/>
        <p:txBody>
          <a:bodyPr/>
          <a:lstStyle/>
          <a:p>
            <a:r>
              <a:rPr lang="en-US"/>
              <a:t>8th Mile X Overnight Hackathon</a:t>
            </a:r>
            <a:endParaRPr lang="en-IN"/>
          </a:p>
        </p:txBody>
      </p:sp>
      <p:sp>
        <p:nvSpPr>
          <p:cNvPr id="9" name="Slide Number Placeholder 8"/>
          <p:cNvSpPr>
            <a:spLocks noGrp="1"/>
          </p:cNvSpPr>
          <p:nvPr>
            <p:ph type="sldNum" sz="quarter" idx="12"/>
          </p:nvPr>
        </p:nvSpPr>
        <p:spPr/>
        <p:txBody>
          <a:bodyPr/>
          <a:lstStyle/>
          <a:p>
            <a:fld id="{9E7A7228-CC1B-43A0-B0BD-71BB82C556D5}" type="slidenum">
              <a:rPr lang="en-IN" smtClean="0"/>
              <a:t>‹#›</a:t>
            </a:fld>
            <a:endParaRPr lang="en-IN"/>
          </a:p>
        </p:txBody>
      </p:sp>
    </p:spTree>
    <p:extLst>
      <p:ext uri="{BB962C8B-B14F-4D97-AF65-F5344CB8AC3E}">
        <p14:creationId xmlns:p14="http://schemas.microsoft.com/office/powerpoint/2010/main" val="325501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80425A6-829B-458F-BE3C-BFBBE8285B5F}" type="datetime1">
              <a:rPr lang="en-IN" smtClean="0"/>
              <a:t>05-12-2025</a:t>
            </a:fld>
            <a:endParaRPr lang="en-IN"/>
          </a:p>
        </p:txBody>
      </p:sp>
      <p:sp>
        <p:nvSpPr>
          <p:cNvPr id="4" name="Footer Placeholder 3"/>
          <p:cNvSpPr>
            <a:spLocks noGrp="1"/>
          </p:cNvSpPr>
          <p:nvPr>
            <p:ph type="ftr" sz="quarter" idx="11"/>
          </p:nvPr>
        </p:nvSpPr>
        <p:spPr/>
        <p:txBody>
          <a:bodyPr/>
          <a:lstStyle/>
          <a:p>
            <a:r>
              <a:rPr lang="en-US"/>
              <a:t>8th Mile X Overnight Hackathon</a:t>
            </a:r>
            <a:endParaRPr lang="en-IN"/>
          </a:p>
        </p:txBody>
      </p:sp>
      <p:sp>
        <p:nvSpPr>
          <p:cNvPr id="5" name="Slide Number Placeholder 4"/>
          <p:cNvSpPr>
            <a:spLocks noGrp="1"/>
          </p:cNvSpPr>
          <p:nvPr>
            <p:ph type="sldNum" sz="quarter" idx="12"/>
          </p:nvPr>
        </p:nvSpPr>
        <p:spPr/>
        <p:txBody>
          <a:bodyPr/>
          <a:lstStyle/>
          <a:p>
            <a:fld id="{9E7A7228-CC1B-43A0-B0BD-71BB82C556D5}" type="slidenum">
              <a:rPr lang="en-IN" smtClean="0"/>
              <a:t>‹#›</a:t>
            </a:fld>
            <a:endParaRPr lang="en-IN"/>
          </a:p>
        </p:txBody>
      </p:sp>
    </p:spTree>
    <p:extLst>
      <p:ext uri="{BB962C8B-B14F-4D97-AF65-F5344CB8AC3E}">
        <p14:creationId xmlns:p14="http://schemas.microsoft.com/office/powerpoint/2010/main" val="1158568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A6450E-2391-48A4-94F5-674C0D15D9AF}" type="datetime1">
              <a:rPr lang="en-IN" smtClean="0"/>
              <a:t>05-12-2025</a:t>
            </a:fld>
            <a:endParaRPr lang="en-IN"/>
          </a:p>
        </p:txBody>
      </p:sp>
      <p:sp>
        <p:nvSpPr>
          <p:cNvPr id="3" name="Footer Placeholder 2"/>
          <p:cNvSpPr>
            <a:spLocks noGrp="1"/>
          </p:cNvSpPr>
          <p:nvPr>
            <p:ph type="ftr" sz="quarter" idx="11"/>
          </p:nvPr>
        </p:nvSpPr>
        <p:spPr/>
        <p:txBody>
          <a:bodyPr/>
          <a:lstStyle/>
          <a:p>
            <a:r>
              <a:rPr lang="en-US"/>
              <a:t>8th Mile X Overnight Hackathon</a:t>
            </a:r>
            <a:endParaRPr lang="en-IN"/>
          </a:p>
        </p:txBody>
      </p:sp>
      <p:sp>
        <p:nvSpPr>
          <p:cNvPr id="4" name="Slide Number Placeholder 3"/>
          <p:cNvSpPr>
            <a:spLocks noGrp="1"/>
          </p:cNvSpPr>
          <p:nvPr>
            <p:ph type="sldNum" sz="quarter" idx="12"/>
          </p:nvPr>
        </p:nvSpPr>
        <p:spPr/>
        <p:txBody>
          <a:bodyPr/>
          <a:lstStyle/>
          <a:p>
            <a:fld id="{9E7A7228-CC1B-43A0-B0BD-71BB82C556D5}" type="slidenum">
              <a:rPr lang="en-IN" smtClean="0"/>
              <a:t>‹#›</a:t>
            </a:fld>
            <a:endParaRPr lang="en-IN"/>
          </a:p>
        </p:txBody>
      </p:sp>
    </p:spTree>
    <p:extLst>
      <p:ext uri="{BB962C8B-B14F-4D97-AF65-F5344CB8AC3E}">
        <p14:creationId xmlns:p14="http://schemas.microsoft.com/office/powerpoint/2010/main" val="3227571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57ACD5-39B7-4B68-9759-FD02D7A8C9D4}" type="datetime1">
              <a:rPr lang="en-IN" smtClean="0"/>
              <a:t>05-12-2025</a:t>
            </a:fld>
            <a:endParaRPr lang="en-IN"/>
          </a:p>
        </p:txBody>
      </p:sp>
      <p:sp>
        <p:nvSpPr>
          <p:cNvPr id="6" name="Footer Placeholder 5"/>
          <p:cNvSpPr>
            <a:spLocks noGrp="1"/>
          </p:cNvSpPr>
          <p:nvPr>
            <p:ph type="ftr" sz="quarter" idx="11"/>
          </p:nvPr>
        </p:nvSpPr>
        <p:spPr/>
        <p:txBody>
          <a:bodyPr/>
          <a:lstStyle/>
          <a:p>
            <a:r>
              <a:rPr lang="en-US"/>
              <a:t>8th Mile X Overnight Hackathon</a:t>
            </a:r>
            <a:endParaRPr lang="en-IN"/>
          </a:p>
        </p:txBody>
      </p:sp>
      <p:sp>
        <p:nvSpPr>
          <p:cNvPr id="7" name="Slide Number Placeholder 6"/>
          <p:cNvSpPr>
            <a:spLocks noGrp="1"/>
          </p:cNvSpPr>
          <p:nvPr>
            <p:ph type="sldNum" sz="quarter" idx="12"/>
          </p:nvPr>
        </p:nvSpPr>
        <p:spPr/>
        <p:txBody>
          <a:bodyPr/>
          <a:lstStyle/>
          <a:p>
            <a:fld id="{9E7A7228-CC1B-43A0-B0BD-71BB82C556D5}" type="slidenum">
              <a:rPr lang="en-IN" smtClean="0"/>
              <a:t>‹#›</a:t>
            </a:fld>
            <a:endParaRPr lang="en-IN"/>
          </a:p>
        </p:txBody>
      </p:sp>
    </p:spTree>
    <p:extLst>
      <p:ext uri="{BB962C8B-B14F-4D97-AF65-F5344CB8AC3E}">
        <p14:creationId xmlns:p14="http://schemas.microsoft.com/office/powerpoint/2010/main" val="1683221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B3984C-E423-4DD4-8F10-D1B767775CC5}" type="datetime1">
              <a:rPr lang="en-IN" smtClean="0"/>
              <a:t>05-12-2025</a:t>
            </a:fld>
            <a:endParaRPr lang="en-IN"/>
          </a:p>
        </p:txBody>
      </p:sp>
      <p:sp>
        <p:nvSpPr>
          <p:cNvPr id="6" name="Footer Placeholder 5"/>
          <p:cNvSpPr>
            <a:spLocks noGrp="1"/>
          </p:cNvSpPr>
          <p:nvPr>
            <p:ph type="ftr" sz="quarter" idx="11"/>
          </p:nvPr>
        </p:nvSpPr>
        <p:spPr/>
        <p:txBody>
          <a:bodyPr/>
          <a:lstStyle/>
          <a:p>
            <a:r>
              <a:rPr lang="en-US"/>
              <a:t>8th Mile X Overnight Hackathon</a:t>
            </a:r>
            <a:endParaRPr lang="en-IN"/>
          </a:p>
        </p:txBody>
      </p:sp>
      <p:sp>
        <p:nvSpPr>
          <p:cNvPr id="7" name="Slide Number Placeholder 6"/>
          <p:cNvSpPr>
            <a:spLocks noGrp="1"/>
          </p:cNvSpPr>
          <p:nvPr>
            <p:ph type="sldNum" sz="quarter" idx="12"/>
          </p:nvPr>
        </p:nvSpPr>
        <p:spPr/>
        <p:txBody>
          <a:bodyPr/>
          <a:lstStyle/>
          <a:p>
            <a:fld id="{9E7A7228-CC1B-43A0-B0BD-71BB82C556D5}" type="slidenum">
              <a:rPr lang="en-IN" smtClean="0"/>
              <a:t>‹#›</a:t>
            </a:fld>
            <a:endParaRPr lang="en-IN"/>
          </a:p>
        </p:txBody>
      </p:sp>
    </p:spTree>
    <p:extLst>
      <p:ext uri="{BB962C8B-B14F-4D97-AF65-F5344CB8AC3E}">
        <p14:creationId xmlns:p14="http://schemas.microsoft.com/office/powerpoint/2010/main" val="3968367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A57743-250E-476C-AEB6-30ABC12C9432}" type="datetime1">
              <a:rPr lang="en-IN" smtClean="0"/>
              <a:t>05-12-2025</a:t>
            </a:fld>
            <a:endParaRPr lang="en-IN"/>
          </a:p>
        </p:txBody>
      </p:sp>
      <p:sp>
        <p:nvSpPr>
          <p:cNvPr id="5" name="Footer Placeholder 4"/>
          <p:cNvSpPr>
            <a:spLocks noGrp="1"/>
          </p:cNvSpPr>
          <p:nvPr>
            <p:ph type="ftr" sz="quarter" idx="11"/>
          </p:nvPr>
        </p:nvSpPr>
        <p:spPr/>
        <p:txBody>
          <a:bodyPr/>
          <a:lstStyle/>
          <a:p>
            <a:r>
              <a:rPr lang="en-US"/>
              <a:t>8th Mile X Overnight Hackathon</a:t>
            </a:r>
            <a:endParaRPr lang="en-IN"/>
          </a:p>
        </p:txBody>
      </p:sp>
      <p:sp>
        <p:nvSpPr>
          <p:cNvPr id="6" name="Slide Number Placeholder 5"/>
          <p:cNvSpPr>
            <a:spLocks noGrp="1"/>
          </p:cNvSpPr>
          <p:nvPr>
            <p:ph type="sldNum" sz="quarter" idx="12"/>
          </p:nvPr>
        </p:nvSpPr>
        <p:spPr/>
        <p:txBody>
          <a:bodyPr/>
          <a:lstStyle/>
          <a:p>
            <a:fld id="{9E7A7228-CC1B-43A0-B0BD-71BB82C556D5}" type="slidenum">
              <a:rPr lang="en-IN" smtClean="0"/>
              <a:t>‹#›</a:t>
            </a:fld>
            <a:endParaRPr lang="en-IN"/>
          </a:p>
        </p:txBody>
      </p:sp>
    </p:spTree>
    <p:extLst>
      <p:ext uri="{BB962C8B-B14F-4D97-AF65-F5344CB8AC3E}">
        <p14:creationId xmlns:p14="http://schemas.microsoft.com/office/powerpoint/2010/main" val="36385669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FF9301-C3DC-4859-A0E7-08AD7EBFEC04}" type="datetime1">
              <a:rPr lang="en-IN" smtClean="0"/>
              <a:t>05-12-2025</a:t>
            </a:fld>
            <a:endParaRPr lang="en-IN"/>
          </a:p>
        </p:txBody>
      </p:sp>
      <p:sp>
        <p:nvSpPr>
          <p:cNvPr id="5" name="Footer Placeholder 4"/>
          <p:cNvSpPr>
            <a:spLocks noGrp="1"/>
          </p:cNvSpPr>
          <p:nvPr>
            <p:ph type="ftr" sz="quarter" idx="11"/>
          </p:nvPr>
        </p:nvSpPr>
        <p:spPr/>
        <p:txBody>
          <a:bodyPr/>
          <a:lstStyle/>
          <a:p>
            <a:r>
              <a:rPr lang="en-US"/>
              <a:t>8th Mile X Overnight Hackathon</a:t>
            </a:r>
            <a:endParaRPr lang="en-IN"/>
          </a:p>
        </p:txBody>
      </p:sp>
      <p:sp>
        <p:nvSpPr>
          <p:cNvPr id="6" name="Slide Number Placeholder 5"/>
          <p:cNvSpPr>
            <a:spLocks noGrp="1"/>
          </p:cNvSpPr>
          <p:nvPr>
            <p:ph type="sldNum" sz="quarter" idx="12"/>
          </p:nvPr>
        </p:nvSpPr>
        <p:spPr/>
        <p:txBody>
          <a:bodyPr/>
          <a:lstStyle/>
          <a:p>
            <a:fld id="{9E7A7228-CC1B-43A0-B0BD-71BB82C556D5}" type="slidenum">
              <a:rPr lang="en-IN" smtClean="0"/>
              <a:t>‹#›</a:t>
            </a:fld>
            <a:endParaRPr lang="en-IN"/>
          </a:p>
        </p:txBody>
      </p:sp>
    </p:spTree>
    <p:extLst>
      <p:ext uri="{BB962C8B-B14F-4D97-AF65-F5344CB8AC3E}">
        <p14:creationId xmlns:p14="http://schemas.microsoft.com/office/powerpoint/2010/main" val="397259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3B1FAF43-094C-4256-886E-2CC6F4954150}" type="datetime1">
              <a:rPr lang="en-IN" smtClean="0"/>
              <a:t>05-12-2025</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r>
              <a:rPr lang="en-US"/>
              <a:t>8th Mile X Overnight Hackathon</a:t>
            </a:r>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9E7A7228-CC1B-43A0-B0BD-71BB82C556D5}" type="slidenum">
              <a:rPr lang="en-IN" smtClean="0"/>
              <a:pPr/>
              <a:t>‹#›</a:t>
            </a:fld>
            <a:endParaRPr lang="en-IN" dirty="0"/>
          </a:p>
        </p:txBody>
      </p:sp>
    </p:spTree>
    <p:extLst>
      <p:ext uri="{BB962C8B-B14F-4D97-AF65-F5344CB8AC3E}">
        <p14:creationId xmlns:p14="http://schemas.microsoft.com/office/powerpoint/2010/main" val="69054014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59612-7AE2-27E2-C33A-A73383CFCB7E}"/>
              </a:ext>
            </a:extLst>
          </p:cNvPr>
          <p:cNvSpPr>
            <a:spLocks noGrp="1"/>
          </p:cNvSpPr>
          <p:nvPr>
            <p:ph type="ctrTitle"/>
          </p:nvPr>
        </p:nvSpPr>
        <p:spPr>
          <a:xfrm>
            <a:off x="1524000" y="2110595"/>
            <a:ext cx="9144000" cy="1399367"/>
          </a:xfrm>
        </p:spPr>
        <p:txBody>
          <a:bodyPr/>
          <a:lstStyle/>
          <a:p>
            <a:r>
              <a:rPr lang="en-US" dirty="0">
                <a:latin typeface="Times New Roman" panose="02020603050405020304" pitchFamily="18" charset="0"/>
                <a:cs typeface="Times New Roman" panose="02020603050405020304" pitchFamily="18" charset="0"/>
              </a:rPr>
              <a:t>Team Name: CODEZILLA </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4FFCA5A-0F2F-79F8-C0C2-E15F754EC2FE}"/>
              </a:ext>
            </a:extLst>
          </p:cNvPr>
          <p:cNvSpPr>
            <a:spLocks noGrp="1"/>
          </p:cNvSpPr>
          <p:nvPr>
            <p:ph type="subTitle" idx="1"/>
          </p:nvPr>
        </p:nvSpPr>
        <p:spPr>
          <a:xfrm>
            <a:off x="1524000" y="3817257"/>
            <a:ext cx="9144000" cy="1655762"/>
          </a:xfrm>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Team details</a:t>
            </a:r>
          </a:p>
          <a:p>
            <a:r>
              <a:rPr lang="en-US" dirty="0">
                <a:cs typeface="Times New Roman" panose="02020603050405020304" pitchFamily="18" charset="0"/>
              </a:rPr>
              <a:t>1) SHEIKH HAMZAH</a:t>
            </a:r>
          </a:p>
          <a:p>
            <a:r>
              <a:rPr lang="en-US" dirty="0">
                <a:latin typeface="Times New Roman" panose="02020603050405020304" pitchFamily="18" charset="0"/>
                <a:cs typeface="Times New Roman" panose="02020603050405020304" pitchFamily="18" charset="0"/>
              </a:rPr>
              <a:t>2) PRANSHU MISHRA</a:t>
            </a:r>
          </a:p>
          <a:p>
            <a:r>
              <a:rPr lang="en-IN" dirty="0">
                <a:latin typeface="Times New Roman" panose="02020603050405020304" pitchFamily="18" charset="0"/>
                <a:cs typeface="Times New Roman" panose="02020603050405020304" pitchFamily="18" charset="0"/>
              </a:rPr>
              <a:t>3) NIKHIL SHARMA</a:t>
            </a:r>
          </a:p>
          <a:p>
            <a:r>
              <a:rPr lang="en-IN" dirty="0">
                <a:cs typeface="Times New Roman" panose="02020603050405020304" pitchFamily="18" charset="0"/>
              </a:rPr>
              <a:t>4) PRANAV V</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BF04C8E-105F-DEFB-9BE3-A3532FB04480}"/>
              </a:ext>
            </a:extLst>
          </p:cNvPr>
          <p:cNvSpPr txBox="1"/>
          <p:nvPr/>
        </p:nvSpPr>
        <p:spPr>
          <a:xfrm>
            <a:off x="3048000" y="3245771"/>
            <a:ext cx="6096000" cy="369332"/>
          </a:xfrm>
          <a:prstGeom prst="rect">
            <a:avLst/>
          </a:prstGeom>
          <a:noFill/>
        </p:spPr>
        <p:txBody>
          <a:bodyPr wrap="square">
            <a:spAutoFit/>
          </a:bodyPr>
          <a:lstStyle/>
          <a:p>
            <a:endParaRPr lang="en-IN" dirty="0">
              <a:latin typeface="Times New Roman" panose="02020603050405020304" pitchFamily="18" charset="0"/>
            </a:endParaRPr>
          </a:p>
        </p:txBody>
      </p:sp>
      <p:pic>
        <p:nvPicPr>
          <p:cNvPr id="11" name="Picture 10">
            <a:extLst>
              <a:ext uri="{FF2B5EF4-FFF2-40B4-BE49-F238E27FC236}">
                <a16:creationId xmlns:a16="http://schemas.microsoft.com/office/drawing/2014/main" id="{5C5407D8-01FB-606E-FF88-38D90059AC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817" y="310556"/>
            <a:ext cx="2305893" cy="990644"/>
          </a:xfrm>
          <a:prstGeom prst="rect">
            <a:avLst/>
          </a:prstGeom>
        </p:spPr>
      </p:pic>
      <p:sp>
        <p:nvSpPr>
          <p:cNvPr id="5" name="TextBox 4">
            <a:extLst>
              <a:ext uri="{FF2B5EF4-FFF2-40B4-BE49-F238E27FC236}">
                <a16:creationId xmlns:a16="http://schemas.microsoft.com/office/drawing/2014/main" id="{7EEF3145-EB29-5521-1C64-590D28F5B7E7}"/>
              </a:ext>
            </a:extLst>
          </p:cNvPr>
          <p:cNvSpPr txBox="1"/>
          <p:nvPr/>
        </p:nvSpPr>
        <p:spPr>
          <a:xfrm>
            <a:off x="3357908" y="417905"/>
            <a:ext cx="5476184" cy="707886"/>
          </a:xfrm>
          <a:prstGeom prst="rect">
            <a:avLst/>
          </a:prstGeom>
          <a:noFill/>
        </p:spPr>
        <p:txBody>
          <a:bodyPr wrap="square" rtlCol="0">
            <a:spAutoFit/>
          </a:bodyPr>
          <a:lstStyle/>
          <a:p>
            <a:pPr algn="ctr"/>
            <a:r>
              <a:rPr lang="en-US" sz="4000" dirty="0">
                <a:solidFill>
                  <a:srgbClr val="FFED00"/>
                </a:solidFill>
                <a:latin typeface="Berlin Sans FB Demi" panose="020E0802020502020306" pitchFamily="34" charset="0"/>
              </a:rPr>
              <a:t>Overnight Hackathon</a:t>
            </a:r>
            <a:endParaRPr lang="en-IN" sz="4000" dirty="0">
              <a:solidFill>
                <a:srgbClr val="FFED00"/>
              </a:solidFill>
              <a:latin typeface="Berlin Sans FB Demi" panose="020E0802020502020306" pitchFamily="34" charset="0"/>
            </a:endParaRPr>
          </a:p>
        </p:txBody>
      </p:sp>
      <p:pic>
        <p:nvPicPr>
          <p:cNvPr id="1026" name="Picture 2" descr="Coding Club RVCE - YouTube">
            <a:extLst>
              <a:ext uri="{FF2B5EF4-FFF2-40B4-BE49-F238E27FC236}">
                <a16:creationId xmlns:a16="http://schemas.microsoft.com/office/drawing/2014/main" id="{B7DA7CCD-8519-BB5C-FF2C-98F56B88797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994" t="18800" r="10717" b="16497"/>
          <a:stretch>
            <a:fillRect/>
          </a:stretch>
        </p:blipFill>
        <p:spPr bwMode="auto">
          <a:xfrm>
            <a:off x="9217663" y="182181"/>
            <a:ext cx="1611544" cy="1331909"/>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5">
            <a:extLst>
              <a:ext uri="{FF2B5EF4-FFF2-40B4-BE49-F238E27FC236}">
                <a16:creationId xmlns:a16="http://schemas.microsoft.com/office/drawing/2014/main" id="{B1C53965-DDE0-071D-A944-C778F6F51BB3}"/>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8th Mile X Overnight Hackathon</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62A1C2B0-E1CF-A76A-8DA1-1861999832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7045" y="182181"/>
            <a:ext cx="1119019" cy="1119019"/>
          </a:xfrm>
          <a:prstGeom prst="rect">
            <a:avLst/>
          </a:prstGeom>
        </p:spPr>
      </p:pic>
      <p:cxnSp>
        <p:nvCxnSpPr>
          <p:cNvPr id="10" name="Straight Connector 9">
            <a:extLst>
              <a:ext uri="{FF2B5EF4-FFF2-40B4-BE49-F238E27FC236}">
                <a16:creationId xmlns:a16="http://schemas.microsoft.com/office/drawing/2014/main" id="{07A40A5D-41C7-857C-C05E-2517086FB91D}"/>
              </a:ext>
            </a:extLst>
          </p:cNvPr>
          <p:cNvCxnSpPr>
            <a:cxnSpLocks/>
          </p:cNvCxnSpPr>
          <p:nvPr/>
        </p:nvCxnSpPr>
        <p:spPr>
          <a:xfrm>
            <a:off x="10947002" y="310556"/>
            <a:ext cx="0" cy="9297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7686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3DB19-A6AA-2E16-D353-BB481801B175}"/>
              </a:ext>
            </a:extLst>
          </p:cNvPr>
          <p:cNvSpPr>
            <a:spLocks noGrp="1"/>
          </p:cNvSpPr>
          <p:nvPr>
            <p:ph type="title"/>
          </p:nvPr>
        </p:nvSpPr>
        <p:spPr/>
        <p:txBody>
          <a:bodyPr/>
          <a:lstStyle/>
          <a:p>
            <a:pPr algn="ctr"/>
            <a:r>
              <a:rPr lang="en-US" dirty="0">
                <a:solidFill>
                  <a:srgbClr val="FFFF00"/>
                </a:solidFill>
                <a:latin typeface="Berlin Sans FB Demi" panose="020E0802020502020306" pitchFamily="34" charset="0"/>
              </a:rPr>
              <a:t>Problem Statement</a:t>
            </a:r>
            <a:endParaRPr lang="en-IN" dirty="0">
              <a:solidFill>
                <a:srgbClr val="FFFF00"/>
              </a:solidFill>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9DCF28F3-FC1D-27D5-3E6D-B8072661800F}"/>
              </a:ext>
            </a:extLst>
          </p:cNvPr>
          <p:cNvSpPr>
            <a:spLocks noGrp="1"/>
          </p:cNvSpPr>
          <p:nvPr>
            <p:ph idx="1"/>
          </p:nvPr>
        </p:nvSpPr>
        <p:spPr>
          <a:xfrm>
            <a:off x="245095" y="1379088"/>
            <a:ext cx="11811785" cy="5113787"/>
          </a:xfrm>
        </p:spPr>
        <p:txBody>
          <a:bodyPr>
            <a:normAutofit fontScale="92500" lnSpcReduction="20000"/>
          </a:bodyPr>
          <a:lstStyle/>
          <a:p>
            <a:r>
              <a:rPr lang="en-US" sz="2600" b="1" u="sng" dirty="0"/>
              <a:t>The Problem: </a:t>
            </a:r>
          </a:p>
          <a:p>
            <a:r>
              <a:rPr lang="en-US" sz="2600" dirty="0"/>
              <a:t>Modern web applications are subjected to a relentless volume of HTTP traffic, making it humanly impossible for security analysts to manually inspect server logs for malicious activity. Cybercriminals increasingly utilize sophisticated Application Layer (Layer 7) attacks—such as SQL Injection (SQLi), Cross-Site Scripting (XSS), and Command Injection—which are often buried within legitimate traffic or obfuscated to evade standard firewall.</a:t>
            </a:r>
            <a:endParaRPr lang="en-US" sz="2600" b="1" u="sng" dirty="0"/>
          </a:p>
          <a:p>
            <a:pPr marL="0" indent="0">
              <a:buNone/>
            </a:pPr>
            <a:r>
              <a:rPr lang="en-US" sz="2600" dirty="0"/>
              <a:t>Current log analysis methods often suffer from two major issues:</a:t>
            </a:r>
          </a:p>
          <a:p>
            <a:r>
              <a:rPr lang="en-US" sz="2600" b="1" u="sng" dirty="0"/>
              <a:t>Data Overload:</a:t>
            </a:r>
            <a:r>
              <a:rPr lang="en-US" sz="2600" u="sng" dirty="0"/>
              <a:t> </a:t>
            </a:r>
            <a:r>
              <a:rPr lang="en-US" sz="2600" dirty="0"/>
              <a:t>The sheer velocity of generated logs (Big Data) overwhelms manual auditing, leading to "alert fatigue."</a:t>
            </a:r>
          </a:p>
          <a:p>
            <a:r>
              <a:rPr lang="en-US" sz="2600" b="1" u="sng" dirty="0"/>
              <a:t>Pattern Obscurity:</a:t>
            </a:r>
            <a:r>
              <a:rPr lang="en-US" sz="2600" u="sng" dirty="0"/>
              <a:t> </a:t>
            </a:r>
            <a:r>
              <a:rPr lang="en-US" sz="2600" dirty="0"/>
              <a:t>without advanced parsing, it is difficult to distinguish between harmless errors, automated bot scanners, and successful targeted intrusions.</a:t>
            </a:r>
          </a:p>
          <a:p>
            <a:r>
              <a:rPr lang="en-US" sz="2600" b="1" u="sng" dirty="0"/>
              <a:t>The Consequence:</a:t>
            </a:r>
            <a:r>
              <a:rPr lang="en-US" sz="2600" u="sng" dirty="0"/>
              <a:t> </a:t>
            </a:r>
            <a:r>
              <a:rPr lang="en-US" sz="2600" dirty="0"/>
              <a:t>Failure to rapidly identify and classify these patterns results in an increased </a:t>
            </a:r>
            <a:r>
              <a:rPr lang="en-US" sz="2600" b="1" dirty="0"/>
              <a:t>Mean Time to Detect (MTTD)</a:t>
            </a:r>
            <a:r>
              <a:rPr lang="en-US" sz="2600" dirty="0"/>
              <a:t>, leaving organizations vulnerable to data exfiltration and system compromise for extended periods.</a:t>
            </a:r>
          </a:p>
          <a:p>
            <a:endParaRPr lang="en-IN" dirty="0"/>
          </a:p>
        </p:txBody>
      </p:sp>
      <p:sp>
        <p:nvSpPr>
          <p:cNvPr id="4" name="Footer Placeholder 3">
            <a:extLst>
              <a:ext uri="{FF2B5EF4-FFF2-40B4-BE49-F238E27FC236}">
                <a16:creationId xmlns:a16="http://schemas.microsoft.com/office/drawing/2014/main" id="{77CEF9FE-2345-2CFD-5A68-9F5E3688D215}"/>
              </a:ext>
            </a:extLst>
          </p:cNvPr>
          <p:cNvSpPr>
            <a:spLocks noGrp="1"/>
          </p:cNvSpPr>
          <p:nvPr>
            <p:ph type="ftr" sz="quarter" idx="11"/>
          </p:nvPr>
        </p:nvSpPr>
        <p:spPr/>
        <p:txBody>
          <a:bodyPr/>
          <a:lstStyle/>
          <a:p>
            <a:r>
              <a:rPr lang="en-US"/>
              <a:t>8th Mile X Overnight Hackathon</a:t>
            </a:r>
            <a:endParaRPr lang="en-IN"/>
          </a:p>
        </p:txBody>
      </p:sp>
      <p:pic>
        <p:nvPicPr>
          <p:cNvPr id="5" name="Picture 4">
            <a:extLst>
              <a:ext uri="{FF2B5EF4-FFF2-40B4-BE49-F238E27FC236}">
                <a16:creationId xmlns:a16="http://schemas.microsoft.com/office/drawing/2014/main" id="{F809480E-04FA-0596-F393-3CC80184F0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095" y="250833"/>
            <a:ext cx="1706952" cy="733330"/>
          </a:xfrm>
          <a:prstGeom prst="rect">
            <a:avLst/>
          </a:prstGeom>
        </p:spPr>
      </p:pic>
      <p:pic>
        <p:nvPicPr>
          <p:cNvPr id="6" name="Picture 2" descr="Coding Club RVCE - YouTube">
            <a:extLst>
              <a:ext uri="{FF2B5EF4-FFF2-40B4-BE49-F238E27FC236}">
                <a16:creationId xmlns:a16="http://schemas.microsoft.com/office/drawing/2014/main" id="{8EBE7C6E-E10C-2734-429D-7B6C92A3A90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994" t="18800" r="10717" b="16497"/>
          <a:stretch>
            <a:fillRect/>
          </a:stretch>
        </p:blipFill>
        <p:spPr bwMode="auto">
          <a:xfrm>
            <a:off x="9821334" y="128910"/>
            <a:ext cx="1226845" cy="101396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51674D7-F761-1FCA-898E-0ADCB8EE01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25838" y="128910"/>
            <a:ext cx="898996" cy="898996"/>
          </a:xfrm>
          <a:prstGeom prst="rect">
            <a:avLst/>
          </a:prstGeom>
        </p:spPr>
      </p:pic>
      <p:cxnSp>
        <p:nvCxnSpPr>
          <p:cNvPr id="8" name="Straight Connector 7">
            <a:extLst>
              <a:ext uri="{FF2B5EF4-FFF2-40B4-BE49-F238E27FC236}">
                <a16:creationId xmlns:a16="http://schemas.microsoft.com/office/drawing/2014/main" id="{AAB5D268-A3D1-AD21-1ADF-BF036EA48E60}"/>
              </a:ext>
            </a:extLst>
          </p:cNvPr>
          <p:cNvCxnSpPr>
            <a:cxnSpLocks/>
          </p:cNvCxnSpPr>
          <p:nvPr/>
        </p:nvCxnSpPr>
        <p:spPr>
          <a:xfrm>
            <a:off x="11205791" y="244034"/>
            <a:ext cx="0" cy="7469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2999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497B2-096F-8F6E-FFD3-9A6DA573AD38}"/>
              </a:ext>
            </a:extLst>
          </p:cNvPr>
          <p:cNvSpPr>
            <a:spLocks noGrp="1"/>
          </p:cNvSpPr>
          <p:nvPr>
            <p:ph type="title"/>
          </p:nvPr>
        </p:nvSpPr>
        <p:spPr/>
        <p:txBody>
          <a:bodyPr/>
          <a:lstStyle/>
          <a:p>
            <a:pPr algn="ctr"/>
            <a:r>
              <a:rPr lang="en-US" dirty="0">
                <a:solidFill>
                  <a:srgbClr val="FFFF00"/>
                </a:solidFill>
                <a:latin typeface="Berlin Sans FB Demi" panose="020E0802020502020306" pitchFamily="34" charset="0"/>
              </a:rPr>
              <a:t>Proposed Solution</a:t>
            </a:r>
            <a:endParaRPr lang="en-IN" dirty="0">
              <a:solidFill>
                <a:srgbClr val="FFFF00"/>
              </a:solidFill>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B4E5FDBB-DB73-42AA-8F1A-CC2DDD1A7E75}"/>
              </a:ext>
            </a:extLst>
          </p:cNvPr>
          <p:cNvSpPr>
            <a:spLocks noGrp="1"/>
          </p:cNvSpPr>
          <p:nvPr>
            <p:ph idx="1"/>
          </p:nvPr>
        </p:nvSpPr>
        <p:spPr>
          <a:xfrm>
            <a:off x="175976" y="1515613"/>
            <a:ext cx="11840047" cy="4977262"/>
          </a:xfrm>
        </p:spPr>
        <p:txBody>
          <a:bodyPr>
            <a:normAutofit/>
          </a:bodyPr>
          <a:lstStyle/>
          <a:p>
            <a:r>
              <a:rPr lang="en-IN" sz="2900" b="1" u="sng" dirty="0"/>
              <a:t>Automated HTTP Threat Forensics Engine</a:t>
            </a:r>
          </a:p>
          <a:p>
            <a:pPr marL="0" indent="0">
              <a:buNone/>
            </a:pPr>
            <a:r>
              <a:rPr lang="en-IN" sz="2900" dirty="0"/>
              <a:t>We propose the development of an automated, centralized analysis platform designed to ingest raw HTTP traffic logs and csv files, applying heuristic and </a:t>
            </a:r>
            <a:r>
              <a:rPr lang="en-IN" sz="2900" dirty="0" err="1"/>
              <a:t>behavioral</a:t>
            </a:r>
            <a:r>
              <a:rPr lang="en-IN" sz="2900" dirty="0"/>
              <a:t> analysis to detect, classify, and visualize web-based threats.</a:t>
            </a:r>
            <a:br>
              <a:rPr lang="en-IN" sz="2900" dirty="0"/>
            </a:br>
            <a:endParaRPr lang="en-IN" sz="2900" dirty="0"/>
          </a:p>
          <a:p>
            <a:endParaRPr lang="en-IN" dirty="0"/>
          </a:p>
        </p:txBody>
      </p:sp>
      <p:sp>
        <p:nvSpPr>
          <p:cNvPr id="4" name="Footer Placeholder 3">
            <a:extLst>
              <a:ext uri="{FF2B5EF4-FFF2-40B4-BE49-F238E27FC236}">
                <a16:creationId xmlns:a16="http://schemas.microsoft.com/office/drawing/2014/main" id="{AD80965B-6823-497E-AFB8-4ABB6713DD6B}"/>
              </a:ext>
            </a:extLst>
          </p:cNvPr>
          <p:cNvSpPr>
            <a:spLocks noGrp="1"/>
          </p:cNvSpPr>
          <p:nvPr>
            <p:ph type="ftr" sz="quarter" idx="11"/>
          </p:nvPr>
        </p:nvSpPr>
        <p:spPr/>
        <p:txBody>
          <a:bodyPr/>
          <a:lstStyle/>
          <a:p>
            <a:r>
              <a:rPr lang="en-US"/>
              <a:t>8th Mile X Overnight Hackathon</a:t>
            </a:r>
            <a:endParaRPr lang="en-IN"/>
          </a:p>
        </p:txBody>
      </p:sp>
      <p:pic>
        <p:nvPicPr>
          <p:cNvPr id="7" name="Picture 6">
            <a:extLst>
              <a:ext uri="{FF2B5EF4-FFF2-40B4-BE49-F238E27FC236}">
                <a16:creationId xmlns:a16="http://schemas.microsoft.com/office/drawing/2014/main" id="{4FD19F21-6554-EE4F-1134-2DFE846B74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095" y="262335"/>
            <a:ext cx="1706952" cy="733330"/>
          </a:xfrm>
          <a:prstGeom prst="rect">
            <a:avLst/>
          </a:prstGeom>
        </p:spPr>
      </p:pic>
      <p:pic>
        <p:nvPicPr>
          <p:cNvPr id="8" name="Picture 2" descr="Coding Club RVCE - YouTube">
            <a:extLst>
              <a:ext uri="{FF2B5EF4-FFF2-40B4-BE49-F238E27FC236}">
                <a16:creationId xmlns:a16="http://schemas.microsoft.com/office/drawing/2014/main" id="{6056AACE-5E5F-784F-1F02-130C50F512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994" t="18800" r="10717" b="16497"/>
          <a:stretch>
            <a:fillRect/>
          </a:stretch>
        </p:blipFill>
        <p:spPr bwMode="auto">
          <a:xfrm>
            <a:off x="9821334" y="140412"/>
            <a:ext cx="1226845" cy="101396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E3B8D0EB-9488-944E-5ABA-98B1C36CF4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25838" y="140412"/>
            <a:ext cx="898996" cy="898996"/>
          </a:xfrm>
          <a:prstGeom prst="rect">
            <a:avLst/>
          </a:prstGeom>
        </p:spPr>
      </p:pic>
      <p:cxnSp>
        <p:nvCxnSpPr>
          <p:cNvPr id="10" name="Straight Connector 9">
            <a:extLst>
              <a:ext uri="{FF2B5EF4-FFF2-40B4-BE49-F238E27FC236}">
                <a16:creationId xmlns:a16="http://schemas.microsoft.com/office/drawing/2014/main" id="{88E3E2D7-5126-6436-C689-6DEC3DEE0724}"/>
              </a:ext>
            </a:extLst>
          </p:cNvPr>
          <p:cNvCxnSpPr>
            <a:cxnSpLocks/>
          </p:cNvCxnSpPr>
          <p:nvPr/>
        </p:nvCxnSpPr>
        <p:spPr>
          <a:xfrm>
            <a:off x="11205791" y="255536"/>
            <a:ext cx="0" cy="7469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4064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3BB26-CD15-DCB2-2437-C4CF2B6708B3}"/>
              </a:ext>
            </a:extLst>
          </p:cNvPr>
          <p:cNvSpPr>
            <a:spLocks noGrp="1"/>
          </p:cNvSpPr>
          <p:nvPr>
            <p:ph type="title"/>
          </p:nvPr>
        </p:nvSpPr>
        <p:spPr>
          <a:xfrm>
            <a:off x="838200" y="249785"/>
            <a:ext cx="10515600" cy="1440903"/>
          </a:xfrm>
        </p:spPr>
        <p:txBody>
          <a:bodyPr/>
          <a:lstStyle/>
          <a:p>
            <a:pPr algn="ctr"/>
            <a:r>
              <a:rPr lang="en-US" dirty="0">
                <a:solidFill>
                  <a:srgbClr val="FFFF00"/>
                </a:solidFill>
                <a:latin typeface="Berlin Sans FB Demi" panose="020E0802020502020306" pitchFamily="34" charset="0"/>
              </a:rPr>
              <a:t>Key Features</a:t>
            </a:r>
            <a:endParaRPr lang="en-IN" dirty="0">
              <a:solidFill>
                <a:srgbClr val="FFFF00"/>
              </a:solidFill>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C99ACEF9-E95D-50AB-0947-0F843C39C53D}"/>
              </a:ext>
            </a:extLst>
          </p:cNvPr>
          <p:cNvSpPr>
            <a:spLocks noGrp="1"/>
          </p:cNvSpPr>
          <p:nvPr>
            <p:ph idx="1"/>
          </p:nvPr>
        </p:nvSpPr>
        <p:spPr>
          <a:xfrm>
            <a:off x="160263" y="1263964"/>
            <a:ext cx="11964570" cy="5228911"/>
          </a:xfrm>
        </p:spPr>
        <p:txBody>
          <a:bodyPr>
            <a:normAutofit/>
          </a:bodyPr>
          <a:lstStyle/>
          <a:p>
            <a:r>
              <a:rPr lang="en-US" sz="2400" b="1" dirty="0"/>
              <a:t>Automated Detection:</a:t>
            </a:r>
            <a:r>
              <a:rPr lang="en-US" sz="2400" dirty="0"/>
              <a:t> The system utilizes cognitive reasoning of </a:t>
            </a:r>
            <a:r>
              <a:rPr lang="en-US" sz="2400" b="1" dirty="0"/>
              <a:t>Large Language Models (LLMs) </a:t>
            </a:r>
            <a:r>
              <a:rPr lang="en-US" sz="2400" dirty="0"/>
              <a:t>to instantly scan HTTP logs for complex threats like SQL Injection, XSS, and Path Traversal.</a:t>
            </a:r>
            <a:endParaRPr lang="en-IN" sz="2400" dirty="0"/>
          </a:p>
          <a:p>
            <a:r>
              <a:rPr lang="en-US" sz="2400" b="1" dirty="0"/>
              <a:t>"Attempt vs. Success" Verification:</a:t>
            </a:r>
            <a:r>
              <a:rPr lang="en-US" sz="2400" dirty="0"/>
              <a:t> Unlike standard parsers, this tool smartly correlates malicious payloads with HTTP status codes (e.g., 200 vs 403) to distinguish between harmless  blocked attempts and critical successful breaches.</a:t>
            </a:r>
          </a:p>
          <a:p>
            <a:r>
              <a:rPr lang="en-US" sz="2400" b="1" dirty="0"/>
              <a:t>Session-Based Forensics:</a:t>
            </a:r>
            <a:r>
              <a:rPr lang="en-US" sz="2400" dirty="0"/>
              <a:t> The backend goes beyond simple log viewing by grouping individual requests into user sessions (via Cookies or IP/User-Agent), allowing analysts to track an attacker's complete journey.</a:t>
            </a:r>
          </a:p>
          <a:p>
            <a:r>
              <a:rPr lang="en-US" sz="2400" b="1" dirty="0"/>
              <a:t>Interactive SPA Dashboard:</a:t>
            </a:r>
            <a:r>
              <a:rPr lang="en-US" sz="2400" dirty="0"/>
              <a:t> Features a modern, dark-mode Single Page Application (SPA) interface that supports drag-and-drop uploads, real-time searching, and dynamic filtering by severity or attack type</a:t>
            </a:r>
            <a:endParaRPr lang="en-IN" sz="2400" dirty="0"/>
          </a:p>
        </p:txBody>
      </p:sp>
      <p:sp>
        <p:nvSpPr>
          <p:cNvPr id="4" name="Footer Placeholder 3">
            <a:extLst>
              <a:ext uri="{FF2B5EF4-FFF2-40B4-BE49-F238E27FC236}">
                <a16:creationId xmlns:a16="http://schemas.microsoft.com/office/drawing/2014/main" id="{040BD847-7ED9-F646-AB7E-E9606D42A519}"/>
              </a:ext>
            </a:extLst>
          </p:cNvPr>
          <p:cNvSpPr>
            <a:spLocks noGrp="1"/>
          </p:cNvSpPr>
          <p:nvPr>
            <p:ph type="ftr" sz="quarter" idx="11"/>
          </p:nvPr>
        </p:nvSpPr>
        <p:spPr/>
        <p:txBody>
          <a:bodyPr/>
          <a:lstStyle/>
          <a:p>
            <a:r>
              <a:rPr lang="en-US"/>
              <a:t>8th Mile X Overnight Hackathon</a:t>
            </a:r>
            <a:endParaRPr lang="en-IN"/>
          </a:p>
        </p:txBody>
      </p:sp>
      <p:pic>
        <p:nvPicPr>
          <p:cNvPr id="7" name="Picture 6">
            <a:extLst>
              <a:ext uri="{FF2B5EF4-FFF2-40B4-BE49-F238E27FC236}">
                <a16:creationId xmlns:a16="http://schemas.microsoft.com/office/drawing/2014/main" id="{DF2044D5-379F-F03D-8F3B-3D939046FA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095" y="256584"/>
            <a:ext cx="1706952" cy="733330"/>
          </a:xfrm>
          <a:prstGeom prst="rect">
            <a:avLst/>
          </a:prstGeom>
        </p:spPr>
      </p:pic>
      <p:pic>
        <p:nvPicPr>
          <p:cNvPr id="8" name="Picture 2" descr="Coding Club RVCE - YouTube">
            <a:extLst>
              <a:ext uri="{FF2B5EF4-FFF2-40B4-BE49-F238E27FC236}">
                <a16:creationId xmlns:a16="http://schemas.microsoft.com/office/drawing/2014/main" id="{C1440A6D-A1C8-C404-9784-2A8E3A4850C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994" t="18800" r="10717" b="16497"/>
          <a:stretch>
            <a:fillRect/>
          </a:stretch>
        </p:blipFill>
        <p:spPr bwMode="auto">
          <a:xfrm>
            <a:off x="9821334" y="134661"/>
            <a:ext cx="1226845" cy="101396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8E271AB1-287D-AF8A-726C-2B1A83C1A0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225838" y="134661"/>
            <a:ext cx="898996" cy="898996"/>
          </a:xfrm>
          <a:prstGeom prst="rect">
            <a:avLst/>
          </a:prstGeom>
        </p:spPr>
      </p:pic>
      <p:cxnSp>
        <p:nvCxnSpPr>
          <p:cNvPr id="10" name="Straight Connector 9">
            <a:extLst>
              <a:ext uri="{FF2B5EF4-FFF2-40B4-BE49-F238E27FC236}">
                <a16:creationId xmlns:a16="http://schemas.microsoft.com/office/drawing/2014/main" id="{BBB2D34A-EB28-6373-AFFB-E3BE50E6BF03}"/>
              </a:ext>
            </a:extLst>
          </p:cNvPr>
          <p:cNvCxnSpPr>
            <a:cxnSpLocks/>
          </p:cNvCxnSpPr>
          <p:nvPr/>
        </p:nvCxnSpPr>
        <p:spPr>
          <a:xfrm>
            <a:off x="11205791" y="249785"/>
            <a:ext cx="0" cy="7469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0425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29AE26-9680-FA61-992F-B549DA4B3275}"/>
              </a:ext>
            </a:extLst>
          </p:cNvPr>
          <p:cNvSpPr>
            <a:spLocks noGrp="1"/>
          </p:cNvSpPr>
          <p:nvPr>
            <p:ph idx="1"/>
          </p:nvPr>
        </p:nvSpPr>
        <p:spPr>
          <a:xfrm>
            <a:off x="294640" y="1668543"/>
            <a:ext cx="10693400" cy="2846895"/>
          </a:xfrm>
        </p:spPr>
        <p:txBody>
          <a:bodyPr>
            <a:normAutofit/>
          </a:bodyPr>
          <a:lstStyle/>
          <a:p>
            <a:r>
              <a:rPr lang="en-US" sz="2400" b="1" dirty="0"/>
              <a:t>Resilient Data Ingestion:</a:t>
            </a:r>
            <a:r>
              <a:rPr lang="en-US" sz="2400" dirty="0"/>
              <a:t> Built with a robust CSV parser that automatically detects varying column names (like </a:t>
            </a:r>
            <a:r>
              <a:rPr lang="en-US" sz="2400" dirty="0" err="1"/>
              <a:t>url</a:t>
            </a:r>
            <a:r>
              <a:rPr lang="en-US" sz="2400" dirty="0"/>
              <a:t>, </a:t>
            </a:r>
            <a:r>
              <a:rPr lang="en-US" sz="2400" dirty="0" err="1"/>
              <a:t>request_url</a:t>
            </a:r>
            <a:r>
              <a:rPr lang="en-US" sz="2400" dirty="0"/>
              <a:t>, or path), making it compatible with logs from Nginx, Apache, and IIS without manual reformatting.</a:t>
            </a:r>
            <a:endParaRPr lang="en-IN" sz="2400" dirty="0"/>
          </a:p>
        </p:txBody>
      </p:sp>
      <p:sp>
        <p:nvSpPr>
          <p:cNvPr id="4" name="Footer Placeholder 3">
            <a:extLst>
              <a:ext uri="{FF2B5EF4-FFF2-40B4-BE49-F238E27FC236}">
                <a16:creationId xmlns:a16="http://schemas.microsoft.com/office/drawing/2014/main" id="{35D01BA5-E9E4-D510-5148-87612E2368A3}"/>
              </a:ext>
            </a:extLst>
          </p:cNvPr>
          <p:cNvSpPr>
            <a:spLocks noGrp="1"/>
          </p:cNvSpPr>
          <p:nvPr>
            <p:ph type="ftr" sz="quarter" idx="11"/>
          </p:nvPr>
        </p:nvSpPr>
        <p:spPr/>
        <p:txBody>
          <a:bodyPr/>
          <a:lstStyle/>
          <a:p>
            <a:r>
              <a:rPr lang="en-US"/>
              <a:t>8th Mile X Overnight Hackathon</a:t>
            </a:r>
            <a:endParaRPr lang="en-IN"/>
          </a:p>
        </p:txBody>
      </p:sp>
      <p:sp>
        <p:nvSpPr>
          <p:cNvPr id="6" name="TextBox 5">
            <a:extLst>
              <a:ext uri="{FF2B5EF4-FFF2-40B4-BE49-F238E27FC236}">
                <a16:creationId xmlns:a16="http://schemas.microsoft.com/office/drawing/2014/main" id="{F5B0E314-A802-A04F-A1C1-D5D4F7F68BD5}"/>
              </a:ext>
            </a:extLst>
          </p:cNvPr>
          <p:cNvSpPr txBox="1"/>
          <p:nvPr/>
        </p:nvSpPr>
        <p:spPr>
          <a:xfrm>
            <a:off x="3566160" y="411897"/>
            <a:ext cx="8209280" cy="923330"/>
          </a:xfrm>
          <a:prstGeom prst="rect">
            <a:avLst/>
          </a:prstGeom>
          <a:noFill/>
        </p:spPr>
        <p:txBody>
          <a:bodyPr wrap="square">
            <a:spAutoFit/>
          </a:bodyPr>
          <a:lstStyle/>
          <a:p>
            <a:r>
              <a:rPr lang="en-US" sz="5400" dirty="0">
                <a:solidFill>
                  <a:srgbClr val="FFFF00"/>
                </a:solidFill>
                <a:latin typeface="Berlin Sans FB Demi" panose="020E0802020502020306" pitchFamily="34" charset="0"/>
              </a:rPr>
              <a:t>Key Features</a:t>
            </a:r>
            <a:endParaRPr lang="en-IN" sz="5400" dirty="0"/>
          </a:p>
        </p:txBody>
      </p:sp>
    </p:spTree>
    <p:extLst>
      <p:ext uri="{BB962C8B-B14F-4D97-AF65-F5344CB8AC3E}">
        <p14:creationId xmlns:p14="http://schemas.microsoft.com/office/powerpoint/2010/main" val="1887032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CA354-0961-EB0C-3268-4D25B288D2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D16F5F-5EA3-A182-2137-66D21004D416}"/>
              </a:ext>
            </a:extLst>
          </p:cNvPr>
          <p:cNvSpPr>
            <a:spLocks noGrp="1"/>
          </p:cNvSpPr>
          <p:nvPr>
            <p:ph type="title"/>
          </p:nvPr>
        </p:nvSpPr>
        <p:spPr>
          <a:xfrm>
            <a:off x="838200" y="136525"/>
            <a:ext cx="10515600" cy="1325563"/>
          </a:xfrm>
        </p:spPr>
        <p:txBody>
          <a:bodyPr/>
          <a:lstStyle/>
          <a:p>
            <a:pPr algn="ctr"/>
            <a:r>
              <a:rPr lang="en-US" dirty="0">
                <a:solidFill>
                  <a:srgbClr val="FFFF00"/>
                </a:solidFill>
                <a:latin typeface="Berlin Sans FB Demi" panose="020E0802020502020306" pitchFamily="34" charset="0"/>
              </a:rPr>
              <a:t>System Architecture</a:t>
            </a:r>
            <a:endParaRPr lang="en-IN" dirty="0">
              <a:solidFill>
                <a:srgbClr val="FFFF00"/>
              </a:solidFill>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B23C9DB1-EDA2-1345-AD0F-495861D3891C}"/>
              </a:ext>
            </a:extLst>
          </p:cNvPr>
          <p:cNvSpPr>
            <a:spLocks noGrp="1"/>
          </p:cNvSpPr>
          <p:nvPr>
            <p:ph idx="1"/>
          </p:nvPr>
        </p:nvSpPr>
        <p:spPr>
          <a:xfrm>
            <a:off x="241868" y="1150488"/>
            <a:ext cx="11708264" cy="5228079"/>
          </a:xfrm>
        </p:spPr>
        <p:txBody>
          <a:bodyPr>
            <a:normAutofit fontScale="70000" lnSpcReduction="20000"/>
          </a:bodyPr>
          <a:lstStyle/>
          <a:p>
            <a:pPr marL="0" indent="0">
              <a:buNone/>
            </a:pPr>
            <a:r>
              <a:rPr lang="en-US" sz="2900" b="1" u="sng" dirty="0"/>
              <a:t>Layer 1: Presentation (Frontend)</a:t>
            </a:r>
            <a:endParaRPr lang="en-US" sz="2900" u="sng" dirty="0"/>
          </a:p>
          <a:p>
            <a:r>
              <a:rPr lang="en-US" sz="2900" b="1" dirty="0"/>
              <a:t>Tech:</a:t>
            </a:r>
            <a:r>
              <a:rPr lang="en-US" sz="2900" dirty="0"/>
              <a:t> Built using standard </a:t>
            </a:r>
            <a:r>
              <a:rPr lang="en-US" sz="2900" b="1" dirty="0"/>
              <a:t>HTML5, CSS3, and JavaScript (ES6)</a:t>
            </a:r>
            <a:r>
              <a:rPr lang="en-US" sz="2900" dirty="0"/>
              <a:t>.</a:t>
            </a:r>
          </a:p>
          <a:p>
            <a:r>
              <a:rPr lang="en-US" sz="2900" b="1" dirty="0"/>
              <a:t>Input:</a:t>
            </a:r>
            <a:r>
              <a:rPr lang="en-US" sz="2900" dirty="0"/>
              <a:t> Features a </a:t>
            </a:r>
            <a:r>
              <a:rPr lang="en-US" sz="2900" b="1" dirty="0"/>
              <a:t>drag-and-drop</a:t>
            </a:r>
            <a:r>
              <a:rPr lang="en-US" sz="2900" dirty="0"/>
              <a:t> zone for easy CSV log uploading.</a:t>
            </a:r>
          </a:p>
          <a:p>
            <a:r>
              <a:rPr lang="en-US" sz="2900" b="1" dirty="0"/>
              <a:t>Display:</a:t>
            </a:r>
            <a:r>
              <a:rPr lang="en-US" sz="2900" dirty="0"/>
              <a:t> A single-page application (SPA) that dynamically renders </a:t>
            </a:r>
            <a:r>
              <a:rPr lang="en-US" sz="2900" b="1" dirty="0"/>
              <a:t>attack statistics, data tables, and filters</a:t>
            </a:r>
            <a:r>
              <a:rPr lang="en-US" sz="2900" dirty="0"/>
              <a:t> without reloading.</a:t>
            </a:r>
          </a:p>
          <a:p>
            <a:endParaRPr lang="en-US" sz="2900" dirty="0"/>
          </a:p>
          <a:p>
            <a:pPr marL="0" indent="0">
              <a:buNone/>
            </a:pPr>
            <a:r>
              <a:rPr lang="en-US" sz="2900" b="1" u="sng" dirty="0"/>
              <a:t>Layer 2: Application (API Gateway)</a:t>
            </a:r>
            <a:endParaRPr lang="en-US" sz="2900" u="sng" dirty="0"/>
          </a:p>
          <a:p>
            <a:r>
              <a:rPr lang="en-US" sz="2900" b="1" dirty="0"/>
              <a:t>Tech:</a:t>
            </a:r>
            <a:r>
              <a:rPr lang="en-US" sz="2900" dirty="0"/>
              <a:t> Powered by </a:t>
            </a:r>
            <a:r>
              <a:rPr lang="en-US" sz="2900" b="1" dirty="0"/>
              <a:t>Python Flask</a:t>
            </a:r>
            <a:r>
              <a:rPr lang="en-US" sz="2900" dirty="0"/>
              <a:t> to handle server requests.</a:t>
            </a:r>
          </a:p>
          <a:p>
            <a:r>
              <a:rPr lang="en-US" sz="2900" b="1" dirty="0"/>
              <a:t>Function:</a:t>
            </a:r>
            <a:r>
              <a:rPr lang="en-US" sz="2900" dirty="0"/>
              <a:t> Acts as the bridge between the UI and the logic; handles </a:t>
            </a:r>
            <a:r>
              <a:rPr lang="en-US" sz="2900" b="1" dirty="0"/>
              <a:t>file ingestion and validation</a:t>
            </a:r>
            <a:r>
              <a:rPr lang="en-US" sz="2900" dirty="0"/>
              <a:t>.</a:t>
            </a:r>
          </a:p>
          <a:p>
            <a:r>
              <a:rPr lang="en-US" sz="2900" b="1" dirty="0"/>
              <a:t>Output:</a:t>
            </a:r>
            <a:r>
              <a:rPr lang="en-US" sz="2900" dirty="0"/>
              <a:t> Processes raw streams and </a:t>
            </a:r>
            <a:r>
              <a:rPr lang="en-US" sz="2900" b="1" dirty="0"/>
              <a:t>serializes results into JSON</a:t>
            </a:r>
            <a:r>
              <a:rPr lang="en-US" sz="2900" dirty="0"/>
              <a:t> for the frontend.</a:t>
            </a:r>
          </a:p>
          <a:p>
            <a:endParaRPr lang="en-US" sz="2900" dirty="0"/>
          </a:p>
          <a:p>
            <a:pPr marL="0" indent="0">
              <a:buNone/>
            </a:pPr>
            <a:r>
              <a:rPr lang="en-US" sz="2900" b="1" u="sng" dirty="0"/>
              <a:t>Layer 3: Intelligence (Analysis Engine)</a:t>
            </a:r>
            <a:endParaRPr lang="en-US" sz="2900" u="sng" dirty="0"/>
          </a:p>
          <a:p>
            <a:r>
              <a:rPr lang="en-US" sz="2900" b="1" dirty="0"/>
              <a:t>Detection:</a:t>
            </a:r>
            <a:r>
              <a:rPr lang="en-US" sz="2900" dirty="0"/>
              <a:t> Uses </a:t>
            </a:r>
            <a:r>
              <a:rPr lang="en-US" sz="2900" b="1" dirty="0"/>
              <a:t>Regex pattern matching</a:t>
            </a:r>
            <a:r>
              <a:rPr lang="en-US" sz="2900" dirty="0"/>
              <a:t> to identify specific threats like SQLi and XSS.</a:t>
            </a:r>
          </a:p>
          <a:p>
            <a:r>
              <a:rPr lang="en-US" sz="2900" b="1" dirty="0"/>
              <a:t>Logic:</a:t>
            </a:r>
            <a:r>
              <a:rPr lang="en-US" sz="2900" dirty="0"/>
              <a:t> Classifies traffic into "Normal" or "Attack" categories.</a:t>
            </a:r>
          </a:p>
          <a:p>
            <a:r>
              <a:rPr lang="en-US" sz="2900" b="1" dirty="0"/>
              <a:t>Verification:</a:t>
            </a:r>
            <a:r>
              <a:rPr lang="en-US" sz="2900" dirty="0"/>
              <a:t> Smartly correlates malicious payloads with </a:t>
            </a:r>
            <a:r>
              <a:rPr lang="en-US" sz="2900" b="1" dirty="0"/>
              <a:t>HTTP Status Codes</a:t>
            </a:r>
            <a:r>
              <a:rPr lang="en-US" sz="2900" dirty="0"/>
              <a:t> to distinguish between </a:t>
            </a:r>
            <a:r>
              <a:rPr lang="en-US" sz="2900" b="1" dirty="0"/>
              <a:t>failed attempts</a:t>
            </a:r>
            <a:r>
              <a:rPr lang="en-US" sz="2900" dirty="0"/>
              <a:t> (e.g., 403) and </a:t>
            </a:r>
            <a:r>
              <a:rPr lang="en-US" sz="2900" b="1" dirty="0"/>
              <a:t>successful breaches</a:t>
            </a:r>
            <a:r>
              <a:rPr lang="en-US" sz="2900" dirty="0"/>
              <a:t> (e.g., 200).</a:t>
            </a:r>
          </a:p>
          <a:p>
            <a:endParaRPr lang="en-IN" dirty="0"/>
          </a:p>
        </p:txBody>
      </p:sp>
      <p:sp>
        <p:nvSpPr>
          <p:cNvPr id="4" name="Footer Placeholder 3">
            <a:extLst>
              <a:ext uri="{FF2B5EF4-FFF2-40B4-BE49-F238E27FC236}">
                <a16:creationId xmlns:a16="http://schemas.microsoft.com/office/drawing/2014/main" id="{78DC09F7-4A06-242C-CA34-E2A2532D64EC}"/>
              </a:ext>
            </a:extLst>
          </p:cNvPr>
          <p:cNvSpPr>
            <a:spLocks noGrp="1"/>
          </p:cNvSpPr>
          <p:nvPr>
            <p:ph type="ftr" sz="quarter" idx="11"/>
          </p:nvPr>
        </p:nvSpPr>
        <p:spPr/>
        <p:txBody>
          <a:bodyPr/>
          <a:lstStyle/>
          <a:p>
            <a:r>
              <a:rPr lang="en-US"/>
              <a:t>8th Mile X Overnight Hackathon</a:t>
            </a:r>
            <a:endParaRPr lang="en-IN"/>
          </a:p>
        </p:txBody>
      </p:sp>
      <p:pic>
        <p:nvPicPr>
          <p:cNvPr id="7" name="Picture 6">
            <a:extLst>
              <a:ext uri="{FF2B5EF4-FFF2-40B4-BE49-F238E27FC236}">
                <a16:creationId xmlns:a16="http://schemas.microsoft.com/office/drawing/2014/main" id="{B4D545C5-2736-5306-F5D1-E2ECC16F89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095" y="250833"/>
            <a:ext cx="1706952" cy="733330"/>
          </a:xfrm>
          <a:prstGeom prst="rect">
            <a:avLst/>
          </a:prstGeom>
        </p:spPr>
      </p:pic>
      <p:pic>
        <p:nvPicPr>
          <p:cNvPr id="8" name="Picture 2" descr="Coding Club RVCE - YouTube">
            <a:extLst>
              <a:ext uri="{FF2B5EF4-FFF2-40B4-BE49-F238E27FC236}">
                <a16:creationId xmlns:a16="http://schemas.microsoft.com/office/drawing/2014/main" id="{7779D6B2-D56E-5A53-F6AF-8E2A48A8818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994" t="18800" r="10717" b="16497"/>
          <a:stretch>
            <a:fillRect/>
          </a:stretch>
        </p:blipFill>
        <p:spPr bwMode="auto">
          <a:xfrm>
            <a:off x="9821334" y="128910"/>
            <a:ext cx="1226845" cy="101396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6A696ED6-F8D2-0D65-B14D-49E6687954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25838" y="128910"/>
            <a:ext cx="898996" cy="898996"/>
          </a:xfrm>
          <a:prstGeom prst="rect">
            <a:avLst/>
          </a:prstGeom>
        </p:spPr>
      </p:pic>
      <p:cxnSp>
        <p:nvCxnSpPr>
          <p:cNvPr id="10" name="Straight Connector 9">
            <a:extLst>
              <a:ext uri="{FF2B5EF4-FFF2-40B4-BE49-F238E27FC236}">
                <a16:creationId xmlns:a16="http://schemas.microsoft.com/office/drawing/2014/main" id="{E5562EB9-FCBA-D36E-AE7A-E864EE5BBCB3}"/>
              </a:ext>
            </a:extLst>
          </p:cNvPr>
          <p:cNvCxnSpPr>
            <a:cxnSpLocks/>
          </p:cNvCxnSpPr>
          <p:nvPr/>
        </p:nvCxnSpPr>
        <p:spPr>
          <a:xfrm>
            <a:off x="11205791" y="244034"/>
            <a:ext cx="0" cy="7469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3927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E8390F5-6284-9E01-32FB-558B326303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9520" y="-243840"/>
            <a:ext cx="10424160" cy="6876560"/>
          </a:xfrm>
        </p:spPr>
      </p:pic>
      <p:sp>
        <p:nvSpPr>
          <p:cNvPr id="4" name="Footer Placeholder 3">
            <a:extLst>
              <a:ext uri="{FF2B5EF4-FFF2-40B4-BE49-F238E27FC236}">
                <a16:creationId xmlns:a16="http://schemas.microsoft.com/office/drawing/2014/main" id="{6D341140-09A2-D66C-6416-89F56E85F76F}"/>
              </a:ext>
            </a:extLst>
          </p:cNvPr>
          <p:cNvSpPr>
            <a:spLocks noGrp="1"/>
          </p:cNvSpPr>
          <p:nvPr>
            <p:ph type="ftr" sz="quarter" idx="11"/>
          </p:nvPr>
        </p:nvSpPr>
        <p:spPr/>
        <p:txBody>
          <a:bodyPr/>
          <a:lstStyle/>
          <a:p>
            <a:r>
              <a:rPr lang="en-US"/>
              <a:t>8th Mile X Overnight Hackathon</a:t>
            </a:r>
            <a:endParaRPr lang="en-IN"/>
          </a:p>
        </p:txBody>
      </p:sp>
      <p:sp>
        <p:nvSpPr>
          <p:cNvPr id="7" name="Rectangle 6">
            <a:extLst>
              <a:ext uri="{FF2B5EF4-FFF2-40B4-BE49-F238E27FC236}">
                <a16:creationId xmlns:a16="http://schemas.microsoft.com/office/drawing/2014/main" id="{CF1A62C7-91A7-9E35-1E80-26F1446E5B6E}"/>
              </a:ext>
            </a:extLst>
          </p:cNvPr>
          <p:cNvSpPr/>
          <p:nvPr/>
        </p:nvSpPr>
        <p:spPr>
          <a:xfrm>
            <a:off x="1351280" y="6106160"/>
            <a:ext cx="1859280" cy="52656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10211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5A8BD-A6DB-C0A3-7240-9026AD6DF7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23E4FB-1F96-CD1B-8358-DA55D4EEE48A}"/>
              </a:ext>
            </a:extLst>
          </p:cNvPr>
          <p:cNvSpPr>
            <a:spLocks noGrp="1"/>
          </p:cNvSpPr>
          <p:nvPr>
            <p:ph type="title"/>
          </p:nvPr>
        </p:nvSpPr>
        <p:spPr>
          <a:xfrm>
            <a:off x="838200" y="128910"/>
            <a:ext cx="10515600" cy="1325563"/>
          </a:xfrm>
        </p:spPr>
        <p:txBody>
          <a:bodyPr/>
          <a:lstStyle/>
          <a:p>
            <a:pPr algn="ctr"/>
            <a:r>
              <a:rPr lang="en-US" dirty="0">
                <a:solidFill>
                  <a:srgbClr val="FFFF00"/>
                </a:solidFill>
                <a:latin typeface="Berlin Sans FB Demi" panose="020E0802020502020306" pitchFamily="34" charset="0"/>
              </a:rPr>
              <a:t>Tech Stack</a:t>
            </a:r>
            <a:endParaRPr lang="en-IN" dirty="0">
              <a:solidFill>
                <a:srgbClr val="FFFF00"/>
              </a:solidFill>
              <a:latin typeface="Berlin Sans FB Demi" panose="020E0802020502020306" pitchFamily="34" charset="0"/>
            </a:endParaRPr>
          </a:p>
        </p:txBody>
      </p:sp>
      <p:pic>
        <p:nvPicPr>
          <p:cNvPr id="6" name="Content Placeholder 5">
            <a:extLst>
              <a:ext uri="{FF2B5EF4-FFF2-40B4-BE49-F238E27FC236}">
                <a16:creationId xmlns:a16="http://schemas.microsoft.com/office/drawing/2014/main" id="{B05E22EA-1733-1779-73D9-C22B8D0D432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8247" y="791691"/>
            <a:ext cx="10515599" cy="5965531"/>
          </a:xfrm>
        </p:spPr>
      </p:pic>
      <p:sp>
        <p:nvSpPr>
          <p:cNvPr id="4" name="Footer Placeholder 3">
            <a:extLst>
              <a:ext uri="{FF2B5EF4-FFF2-40B4-BE49-F238E27FC236}">
                <a16:creationId xmlns:a16="http://schemas.microsoft.com/office/drawing/2014/main" id="{71EB026B-73F6-2B93-1AE5-C0278CF19440}"/>
              </a:ext>
            </a:extLst>
          </p:cNvPr>
          <p:cNvSpPr>
            <a:spLocks noGrp="1"/>
          </p:cNvSpPr>
          <p:nvPr>
            <p:ph type="ftr" sz="quarter" idx="11"/>
          </p:nvPr>
        </p:nvSpPr>
        <p:spPr/>
        <p:txBody>
          <a:bodyPr/>
          <a:lstStyle/>
          <a:p>
            <a:r>
              <a:rPr lang="en-US"/>
              <a:t>8th Mile X Overnight Hackathon</a:t>
            </a:r>
            <a:endParaRPr lang="en-IN"/>
          </a:p>
        </p:txBody>
      </p:sp>
      <p:pic>
        <p:nvPicPr>
          <p:cNvPr id="7" name="Picture 6">
            <a:extLst>
              <a:ext uri="{FF2B5EF4-FFF2-40B4-BE49-F238E27FC236}">
                <a16:creationId xmlns:a16="http://schemas.microsoft.com/office/drawing/2014/main" id="{A5696FF0-45CD-49ED-9DE4-BAD88486C1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095" y="250833"/>
            <a:ext cx="1706952" cy="733330"/>
          </a:xfrm>
          <a:prstGeom prst="rect">
            <a:avLst/>
          </a:prstGeom>
        </p:spPr>
      </p:pic>
      <p:pic>
        <p:nvPicPr>
          <p:cNvPr id="8" name="Picture 2" descr="Coding Club RVCE - YouTube">
            <a:extLst>
              <a:ext uri="{FF2B5EF4-FFF2-40B4-BE49-F238E27FC236}">
                <a16:creationId xmlns:a16="http://schemas.microsoft.com/office/drawing/2014/main" id="{54C0E578-EAFC-0379-2FD3-6A5836BDC75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994" t="18800" r="10717" b="16497"/>
          <a:stretch>
            <a:fillRect/>
          </a:stretch>
        </p:blipFill>
        <p:spPr bwMode="auto">
          <a:xfrm>
            <a:off x="9821334" y="128910"/>
            <a:ext cx="1226845" cy="101396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F64925B-8E60-5270-DB2E-EF39F9639B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225838" y="128910"/>
            <a:ext cx="898996" cy="898996"/>
          </a:xfrm>
          <a:prstGeom prst="rect">
            <a:avLst/>
          </a:prstGeom>
        </p:spPr>
      </p:pic>
      <p:cxnSp>
        <p:nvCxnSpPr>
          <p:cNvPr id="10" name="Straight Connector 9">
            <a:extLst>
              <a:ext uri="{FF2B5EF4-FFF2-40B4-BE49-F238E27FC236}">
                <a16:creationId xmlns:a16="http://schemas.microsoft.com/office/drawing/2014/main" id="{91561A5E-C8DB-E390-CCA2-68B9974C0B4C}"/>
              </a:ext>
            </a:extLst>
          </p:cNvPr>
          <p:cNvCxnSpPr>
            <a:cxnSpLocks/>
          </p:cNvCxnSpPr>
          <p:nvPr/>
        </p:nvCxnSpPr>
        <p:spPr>
          <a:xfrm>
            <a:off x="11205791" y="244034"/>
            <a:ext cx="0" cy="7469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977A98F2-89D8-AE13-6755-0E63A922D87E}"/>
              </a:ext>
            </a:extLst>
          </p:cNvPr>
          <p:cNvSpPr/>
          <p:nvPr/>
        </p:nvSpPr>
        <p:spPr>
          <a:xfrm>
            <a:off x="9337040" y="4765040"/>
            <a:ext cx="782320" cy="38608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586A3481-1B67-9043-E1B5-DB708C65F17A}"/>
              </a:ext>
            </a:extLst>
          </p:cNvPr>
          <p:cNvSpPr/>
          <p:nvPr/>
        </p:nvSpPr>
        <p:spPr>
          <a:xfrm>
            <a:off x="9672320" y="6228080"/>
            <a:ext cx="1930400" cy="52914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760FFCD5-3615-0F86-AAC5-FD826D196C38}"/>
              </a:ext>
            </a:extLst>
          </p:cNvPr>
          <p:cNvSpPr/>
          <p:nvPr/>
        </p:nvSpPr>
        <p:spPr>
          <a:xfrm>
            <a:off x="2121031" y="5062194"/>
            <a:ext cx="1668544" cy="38608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t>LLM MODEL</a:t>
            </a:r>
          </a:p>
        </p:txBody>
      </p:sp>
      <p:sp>
        <p:nvSpPr>
          <p:cNvPr id="5" name="Rectangle 4">
            <a:extLst>
              <a:ext uri="{FF2B5EF4-FFF2-40B4-BE49-F238E27FC236}">
                <a16:creationId xmlns:a16="http://schemas.microsoft.com/office/drawing/2014/main" id="{77F01CD5-8DC8-DD65-4C6D-3E4B4E866886}"/>
              </a:ext>
            </a:extLst>
          </p:cNvPr>
          <p:cNvSpPr/>
          <p:nvPr/>
        </p:nvSpPr>
        <p:spPr>
          <a:xfrm>
            <a:off x="8012784" y="5448274"/>
            <a:ext cx="2106576" cy="52914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73827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BECF2-EEA9-FF06-35BA-7A331984B3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C6598-E773-1823-49CE-8650DDEA5989}"/>
              </a:ext>
            </a:extLst>
          </p:cNvPr>
          <p:cNvSpPr>
            <a:spLocks noGrp="1"/>
          </p:cNvSpPr>
          <p:nvPr>
            <p:ph type="title"/>
          </p:nvPr>
        </p:nvSpPr>
        <p:spPr/>
        <p:txBody>
          <a:bodyPr/>
          <a:lstStyle/>
          <a:p>
            <a:pPr algn="ctr"/>
            <a:r>
              <a:rPr lang="en-US" dirty="0">
                <a:solidFill>
                  <a:srgbClr val="FFFF00"/>
                </a:solidFill>
                <a:latin typeface="Berlin Sans FB Demi" panose="020E0802020502020306" pitchFamily="34" charset="0"/>
              </a:rPr>
              <a:t>Challenges Faced</a:t>
            </a:r>
            <a:endParaRPr lang="en-IN" dirty="0">
              <a:solidFill>
                <a:srgbClr val="FFFF00"/>
              </a:solidFill>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24C91DF0-89E9-76B9-AD6A-DB306A119394}"/>
              </a:ext>
            </a:extLst>
          </p:cNvPr>
          <p:cNvSpPr>
            <a:spLocks noGrp="1"/>
          </p:cNvSpPr>
          <p:nvPr>
            <p:ph idx="1"/>
          </p:nvPr>
        </p:nvSpPr>
        <p:spPr>
          <a:xfrm>
            <a:off x="245095" y="1379089"/>
            <a:ext cx="11774180" cy="5113786"/>
          </a:xfrm>
        </p:spPr>
        <p:txBody>
          <a:bodyPr>
            <a:normAutofit fontScale="77500" lnSpcReduction="20000"/>
          </a:bodyPr>
          <a:lstStyle/>
          <a:p>
            <a:pPr marL="0" indent="0">
              <a:buNone/>
            </a:pPr>
            <a:r>
              <a:rPr lang="en-US" sz="2900" b="1" u="sng" dirty="0"/>
              <a:t>1.Massive Data Volume</a:t>
            </a:r>
            <a:endParaRPr lang="en-US" sz="2900" u="sng" dirty="0"/>
          </a:p>
          <a:p>
            <a:r>
              <a:rPr lang="en-US" sz="2900" dirty="0"/>
              <a:t>Security teams are overwhelmed by millions of HTTP log lines generated daily.</a:t>
            </a:r>
          </a:p>
          <a:p>
            <a:r>
              <a:rPr lang="en-US" sz="2900" dirty="0"/>
              <a:t>Manual inspection of traffic logs (IPDR/Web Logs) is humanly impossible at this scale.</a:t>
            </a:r>
          </a:p>
          <a:p>
            <a:pPr marL="0" indent="0">
              <a:buNone/>
            </a:pPr>
            <a:r>
              <a:rPr lang="en-US" sz="2900" b="1" u="sng" dirty="0"/>
              <a:t>2.Distinguishing "Attempt" vs. "Success"</a:t>
            </a:r>
            <a:endParaRPr lang="en-US" sz="2900" u="sng" dirty="0"/>
          </a:p>
          <a:p>
            <a:r>
              <a:rPr lang="en-US" sz="2900" b="1" dirty="0"/>
              <a:t>The Core Problem:</a:t>
            </a:r>
            <a:r>
              <a:rPr lang="en-US" sz="2900" dirty="0"/>
              <a:t> Most tools flag </a:t>
            </a:r>
            <a:r>
              <a:rPr lang="en-US" sz="2900" i="1" dirty="0"/>
              <a:t>every</a:t>
            </a:r>
            <a:r>
              <a:rPr lang="en-US" sz="2900" dirty="0"/>
              <a:t> malicious signature.</a:t>
            </a:r>
          </a:p>
          <a:p>
            <a:r>
              <a:rPr lang="en-US" sz="2900" b="1" dirty="0"/>
              <a:t>The Challenge:</a:t>
            </a:r>
            <a:r>
              <a:rPr lang="en-US" sz="2900" dirty="0"/>
              <a:t> It is difficult to differentiate between a </a:t>
            </a:r>
            <a:r>
              <a:rPr lang="en-US" sz="2900" b="1" dirty="0"/>
              <a:t>failed attack</a:t>
            </a:r>
            <a:r>
              <a:rPr lang="en-US" sz="2900" dirty="0"/>
              <a:t> (blocked by firewall) and a </a:t>
            </a:r>
            <a:r>
              <a:rPr lang="en-US" sz="2900" b="1" dirty="0"/>
              <a:t>successful breach</a:t>
            </a:r>
            <a:r>
              <a:rPr lang="en-US" sz="2900" dirty="0"/>
              <a:t> (payload executed), leading to critical incidents being missed in the noise.</a:t>
            </a:r>
          </a:p>
          <a:p>
            <a:pPr marL="0" indent="0">
              <a:buNone/>
            </a:pPr>
            <a:r>
              <a:rPr lang="en-US" sz="2900" b="1" u="sng" dirty="0"/>
              <a:t>3.Complex Attack Obfuscation</a:t>
            </a:r>
            <a:endParaRPr lang="en-US" sz="2900" u="sng" dirty="0"/>
          </a:p>
          <a:p>
            <a:r>
              <a:rPr lang="en-US" sz="2900" dirty="0"/>
              <a:t>Attackers hide payloads using sophisticated encoding (Base64, Hex, URL-encoding) to bypass standard keyword filters.</a:t>
            </a:r>
          </a:p>
          <a:p>
            <a:r>
              <a:rPr lang="en-US" sz="2900" dirty="0"/>
              <a:t>Identifying "Low and Slow" attacks that mimic legitimate traffic is difficult without heuristic analysis.</a:t>
            </a:r>
          </a:p>
          <a:p>
            <a:pPr marL="0" indent="0">
              <a:buNone/>
            </a:pPr>
            <a:r>
              <a:rPr lang="en-US" sz="2900" b="1" u="sng" dirty="0"/>
              <a:t>4. Slow Incident Response</a:t>
            </a:r>
            <a:endParaRPr lang="en-US" sz="2900" u="sng" dirty="0"/>
          </a:p>
          <a:p>
            <a:r>
              <a:rPr lang="en-US" sz="2900" dirty="0"/>
              <a:t>Without centralized search and filtering, forensic analysis takes hours or days.</a:t>
            </a:r>
          </a:p>
          <a:p>
            <a:r>
              <a:rPr lang="en-US" sz="2900" dirty="0"/>
              <a:t>Lack of actionable visibility (e.g., "Show me all SQLi from this IP") delays mitigation.</a:t>
            </a:r>
          </a:p>
          <a:p>
            <a:endParaRPr lang="en-IN" dirty="0"/>
          </a:p>
        </p:txBody>
      </p:sp>
      <p:sp>
        <p:nvSpPr>
          <p:cNvPr id="4" name="Footer Placeholder 3">
            <a:extLst>
              <a:ext uri="{FF2B5EF4-FFF2-40B4-BE49-F238E27FC236}">
                <a16:creationId xmlns:a16="http://schemas.microsoft.com/office/drawing/2014/main" id="{0E3562F1-842D-8BCE-F1A6-124D3C7CD3F7}"/>
              </a:ext>
            </a:extLst>
          </p:cNvPr>
          <p:cNvSpPr>
            <a:spLocks noGrp="1"/>
          </p:cNvSpPr>
          <p:nvPr>
            <p:ph type="ftr" sz="quarter" idx="11"/>
          </p:nvPr>
        </p:nvSpPr>
        <p:spPr/>
        <p:txBody>
          <a:bodyPr/>
          <a:lstStyle/>
          <a:p>
            <a:r>
              <a:rPr lang="en-US" dirty="0"/>
              <a:t>8th Mile X Overnight Hackathon</a:t>
            </a:r>
            <a:endParaRPr lang="en-IN" dirty="0"/>
          </a:p>
        </p:txBody>
      </p:sp>
      <p:pic>
        <p:nvPicPr>
          <p:cNvPr id="7" name="Picture 6">
            <a:extLst>
              <a:ext uri="{FF2B5EF4-FFF2-40B4-BE49-F238E27FC236}">
                <a16:creationId xmlns:a16="http://schemas.microsoft.com/office/drawing/2014/main" id="{24B853AD-4104-6B2E-2C5B-295E6A93A7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095" y="250833"/>
            <a:ext cx="1706952" cy="733330"/>
          </a:xfrm>
          <a:prstGeom prst="rect">
            <a:avLst/>
          </a:prstGeom>
        </p:spPr>
      </p:pic>
      <p:pic>
        <p:nvPicPr>
          <p:cNvPr id="8" name="Picture 2" descr="Coding Club RVCE - YouTube">
            <a:extLst>
              <a:ext uri="{FF2B5EF4-FFF2-40B4-BE49-F238E27FC236}">
                <a16:creationId xmlns:a16="http://schemas.microsoft.com/office/drawing/2014/main" id="{456F6264-AF4A-3512-C2D7-84A3F33B4E7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994" t="18800" r="10717" b="16497"/>
          <a:stretch>
            <a:fillRect/>
          </a:stretch>
        </p:blipFill>
        <p:spPr bwMode="auto">
          <a:xfrm>
            <a:off x="9821334" y="128910"/>
            <a:ext cx="1226845" cy="101396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7F024DA5-ACD1-028E-9F83-5BB2D71557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25838" y="128910"/>
            <a:ext cx="898996" cy="898996"/>
          </a:xfrm>
          <a:prstGeom prst="rect">
            <a:avLst/>
          </a:prstGeom>
        </p:spPr>
      </p:pic>
      <p:cxnSp>
        <p:nvCxnSpPr>
          <p:cNvPr id="10" name="Straight Connector 9">
            <a:extLst>
              <a:ext uri="{FF2B5EF4-FFF2-40B4-BE49-F238E27FC236}">
                <a16:creationId xmlns:a16="http://schemas.microsoft.com/office/drawing/2014/main" id="{60E6F8D1-18CF-0F86-F72D-E51E124D4EA8}"/>
              </a:ext>
            </a:extLst>
          </p:cNvPr>
          <p:cNvCxnSpPr>
            <a:cxnSpLocks/>
          </p:cNvCxnSpPr>
          <p:nvPr/>
        </p:nvCxnSpPr>
        <p:spPr>
          <a:xfrm>
            <a:off x="11205791" y="244034"/>
            <a:ext cx="0" cy="7469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5587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B1502-06F5-81D3-0334-6C386507C2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8E5D65-90C6-4F6A-6DA3-20D7ECCB9C5B}"/>
              </a:ext>
            </a:extLst>
          </p:cNvPr>
          <p:cNvSpPr>
            <a:spLocks noGrp="1"/>
          </p:cNvSpPr>
          <p:nvPr>
            <p:ph type="title"/>
          </p:nvPr>
        </p:nvSpPr>
        <p:spPr/>
        <p:txBody>
          <a:bodyPr/>
          <a:lstStyle/>
          <a:p>
            <a:pPr algn="ctr"/>
            <a:r>
              <a:rPr lang="en-US" dirty="0">
                <a:solidFill>
                  <a:srgbClr val="FFFF00"/>
                </a:solidFill>
                <a:latin typeface="Berlin Sans FB Demi" panose="020E0802020502020306" pitchFamily="34" charset="0"/>
              </a:rPr>
              <a:t>Future Scope</a:t>
            </a:r>
            <a:endParaRPr lang="en-IN" dirty="0">
              <a:solidFill>
                <a:srgbClr val="FFFF00"/>
              </a:solidFill>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74497A97-2B9D-9814-8CD8-A39480F6EF2B}"/>
              </a:ext>
            </a:extLst>
          </p:cNvPr>
          <p:cNvSpPr>
            <a:spLocks noGrp="1"/>
          </p:cNvSpPr>
          <p:nvPr>
            <p:ph idx="1"/>
          </p:nvPr>
        </p:nvSpPr>
        <p:spPr/>
        <p:txBody>
          <a:bodyPr/>
          <a:lstStyle/>
          <a:p>
            <a:endParaRPr lang="en-IN" dirty="0"/>
          </a:p>
        </p:txBody>
      </p:sp>
      <p:sp>
        <p:nvSpPr>
          <p:cNvPr id="4" name="Footer Placeholder 3">
            <a:extLst>
              <a:ext uri="{FF2B5EF4-FFF2-40B4-BE49-F238E27FC236}">
                <a16:creationId xmlns:a16="http://schemas.microsoft.com/office/drawing/2014/main" id="{5FFC6248-3965-7E7B-7F81-64DE9BFF3A11}"/>
              </a:ext>
            </a:extLst>
          </p:cNvPr>
          <p:cNvSpPr>
            <a:spLocks noGrp="1"/>
          </p:cNvSpPr>
          <p:nvPr>
            <p:ph type="ftr" sz="quarter" idx="11"/>
          </p:nvPr>
        </p:nvSpPr>
        <p:spPr/>
        <p:txBody>
          <a:bodyPr/>
          <a:lstStyle/>
          <a:p>
            <a:r>
              <a:rPr lang="en-US"/>
              <a:t>8th Mile X Overnight Hackathon</a:t>
            </a:r>
            <a:endParaRPr lang="en-IN"/>
          </a:p>
        </p:txBody>
      </p:sp>
      <p:pic>
        <p:nvPicPr>
          <p:cNvPr id="7" name="Picture 6">
            <a:extLst>
              <a:ext uri="{FF2B5EF4-FFF2-40B4-BE49-F238E27FC236}">
                <a16:creationId xmlns:a16="http://schemas.microsoft.com/office/drawing/2014/main" id="{EE6413DC-DB42-F3F0-AD4D-B9A69A5210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095" y="250833"/>
            <a:ext cx="1706952" cy="733330"/>
          </a:xfrm>
          <a:prstGeom prst="rect">
            <a:avLst/>
          </a:prstGeom>
        </p:spPr>
      </p:pic>
      <p:pic>
        <p:nvPicPr>
          <p:cNvPr id="8" name="Picture 2" descr="Coding Club RVCE - YouTube">
            <a:extLst>
              <a:ext uri="{FF2B5EF4-FFF2-40B4-BE49-F238E27FC236}">
                <a16:creationId xmlns:a16="http://schemas.microsoft.com/office/drawing/2014/main" id="{F71F99BF-E0D5-BFCF-C6FA-76011D4D348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994" t="18800" r="10717" b="16497"/>
          <a:stretch>
            <a:fillRect/>
          </a:stretch>
        </p:blipFill>
        <p:spPr bwMode="auto">
          <a:xfrm>
            <a:off x="9821334" y="128910"/>
            <a:ext cx="1226845" cy="101396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068FCD37-5D69-195B-0DEA-496CA5E697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25838" y="128910"/>
            <a:ext cx="898996" cy="898996"/>
          </a:xfrm>
          <a:prstGeom prst="rect">
            <a:avLst/>
          </a:prstGeom>
        </p:spPr>
      </p:pic>
      <p:cxnSp>
        <p:nvCxnSpPr>
          <p:cNvPr id="10" name="Straight Connector 9">
            <a:extLst>
              <a:ext uri="{FF2B5EF4-FFF2-40B4-BE49-F238E27FC236}">
                <a16:creationId xmlns:a16="http://schemas.microsoft.com/office/drawing/2014/main" id="{10651AEE-733E-F71A-C05E-F0B8E405A9C9}"/>
              </a:ext>
            </a:extLst>
          </p:cNvPr>
          <p:cNvCxnSpPr>
            <a:cxnSpLocks/>
          </p:cNvCxnSpPr>
          <p:nvPr/>
        </p:nvCxnSpPr>
        <p:spPr>
          <a:xfrm>
            <a:off x="11205791" y="244034"/>
            <a:ext cx="0" cy="7469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554DC7C9-190A-C025-94AA-EB466951BDA2}"/>
              </a:ext>
            </a:extLst>
          </p:cNvPr>
          <p:cNvPicPr>
            <a:picLocks noChangeAspect="1"/>
          </p:cNvPicPr>
          <p:nvPr/>
        </p:nvPicPr>
        <p:blipFill>
          <a:blip r:embed="rId5"/>
          <a:stretch>
            <a:fillRect/>
          </a:stretch>
        </p:blipFill>
        <p:spPr>
          <a:xfrm>
            <a:off x="478552" y="1322260"/>
            <a:ext cx="11267245" cy="5034090"/>
          </a:xfrm>
          <a:prstGeom prst="rect">
            <a:avLst/>
          </a:prstGeom>
        </p:spPr>
      </p:pic>
    </p:spTree>
    <p:extLst>
      <p:ext uri="{BB962C8B-B14F-4D97-AF65-F5344CB8AC3E}">
        <p14:creationId xmlns:p14="http://schemas.microsoft.com/office/powerpoint/2010/main" val="2714960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5FA20-81FB-1208-323B-9D75E7014C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E2CAD1-A3E2-6F90-F026-AF124437AFF8}"/>
              </a:ext>
            </a:extLst>
          </p:cNvPr>
          <p:cNvSpPr>
            <a:spLocks noGrp="1"/>
          </p:cNvSpPr>
          <p:nvPr>
            <p:ph type="title"/>
          </p:nvPr>
        </p:nvSpPr>
        <p:spPr>
          <a:xfrm>
            <a:off x="838200" y="2766218"/>
            <a:ext cx="10515600" cy="1325563"/>
          </a:xfrm>
        </p:spPr>
        <p:txBody>
          <a:bodyPr>
            <a:normAutofit/>
          </a:bodyPr>
          <a:lstStyle/>
          <a:p>
            <a:pPr algn="ctr"/>
            <a:r>
              <a:rPr lang="en-US" sz="7000" dirty="0">
                <a:solidFill>
                  <a:srgbClr val="FFFF00"/>
                </a:solidFill>
                <a:latin typeface="Berlin Sans FB Demi" panose="020E0802020502020306" pitchFamily="34" charset="0"/>
              </a:rPr>
              <a:t>Thank You</a:t>
            </a:r>
            <a:endParaRPr lang="en-IN" sz="7000" dirty="0">
              <a:solidFill>
                <a:srgbClr val="FFFF00"/>
              </a:solidFill>
              <a:latin typeface="Berlin Sans FB Demi" panose="020E0802020502020306" pitchFamily="34" charset="0"/>
            </a:endParaRPr>
          </a:p>
        </p:txBody>
      </p:sp>
      <p:sp>
        <p:nvSpPr>
          <p:cNvPr id="6" name="Footer Placeholder 5">
            <a:extLst>
              <a:ext uri="{FF2B5EF4-FFF2-40B4-BE49-F238E27FC236}">
                <a16:creationId xmlns:a16="http://schemas.microsoft.com/office/drawing/2014/main" id="{74517AF0-97CC-2401-0587-8ED61B46F4B5}"/>
              </a:ext>
            </a:extLst>
          </p:cNvPr>
          <p:cNvSpPr>
            <a:spLocks noGrp="1"/>
          </p:cNvSpPr>
          <p:nvPr>
            <p:ph type="ftr" sz="quarter" idx="11"/>
          </p:nvPr>
        </p:nvSpPr>
        <p:spPr/>
        <p:txBody>
          <a:bodyPr/>
          <a:lstStyle/>
          <a:p>
            <a:r>
              <a:rPr lang="en-US"/>
              <a:t>8th Mile X Overnight Hackathon</a:t>
            </a:r>
            <a:endParaRPr lang="en-IN"/>
          </a:p>
        </p:txBody>
      </p:sp>
      <p:pic>
        <p:nvPicPr>
          <p:cNvPr id="3" name="Picture 2">
            <a:extLst>
              <a:ext uri="{FF2B5EF4-FFF2-40B4-BE49-F238E27FC236}">
                <a16:creationId xmlns:a16="http://schemas.microsoft.com/office/drawing/2014/main" id="{F1ADFA85-6F77-6625-74E5-2DC55BE051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817" y="310556"/>
            <a:ext cx="2305893" cy="990644"/>
          </a:xfrm>
          <a:prstGeom prst="rect">
            <a:avLst/>
          </a:prstGeom>
        </p:spPr>
      </p:pic>
      <p:pic>
        <p:nvPicPr>
          <p:cNvPr id="7" name="Picture 2" descr="Coding Club RVCE - YouTube">
            <a:extLst>
              <a:ext uri="{FF2B5EF4-FFF2-40B4-BE49-F238E27FC236}">
                <a16:creationId xmlns:a16="http://schemas.microsoft.com/office/drawing/2014/main" id="{BB85B39C-23BD-6A71-6759-A81C3A50CF3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994" t="18800" r="10717" b="16497"/>
          <a:stretch>
            <a:fillRect/>
          </a:stretch>
        </p:blipFill>
        <p:spPr bwMode="auto">
          <a:xfrm>
            <a:off x="9217663" y="182181"/>
            <a:ext cx="1611544" cy="133190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3A78185F-E472-BCE4-EF12-A430DDC6DA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7045" y="182181"/>
            <a:ext cx="1119019" cy="1119019"/>
          </a:xfrm>
          <a:prstGeom prst="rect">
            <a:avLst/>
          </a:prstGeom>
        </p:spPr>
      </p:pic>
      <p:cxnSp>
        <p:nvCxnSpPr>
          <p:cNvPr id="9" name="Straight Connector 8">
            <a:extLst>
              <a:ext uri="{FF2B5EF4-FFF2-40B4-BE49-F238E27FC236}">
                <a16:creationId xmlns:a16="http://schemas.microsoft.com/office/drawing/2014/main" id="{C8664BFC-8FC8-D2D4-8C23-95D0A94958B8}"/>
              </a:ext>
            </a:extLst>
          </p:cNvPr>
          <p:cNvCxnSpPr>
            <a:cxnSpLocks/>
          </p:cNvCxnSpPr>
          <p:nvPr/>
        </p:nvCxnSpPr>
        <p:spPr>
          <a:xfrm>
            <a:off x="10947002" y="310556"/>
            <a:ext cx="0" cy="9297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0312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1749</TotalTime>
  <Words>844</Words>
  <Application>Microsoft Office PowerPoint</Application>
  <PresentationFormat>Widescreen</PresentationFormat>
  <Paragraphs>68</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Berlin Sans FB Demi</vt:lpstr>
      <vt:lpstr>Calibri Light</vt:lpstr>
      <vt:lpstr>Times New Roman</vt:lpstr>
      <vt:lpstr>Office Theme</vt:lpstr>
      <vt:lpstr>Team Name: CODEZILLA </vt:lpstr>
      <vt:lpstr>Problem Statement</vt:lpstr>
      <vt:lpstr>Proposed Solution</vt:lpstr>
      <vt:lpstr>Key Features</vt:lpstr>
      <vt:lpstr>PowerPoint Presentation</vt:lpstr>
      <vt:lpstr>System Architecture</vt:lpstr>
      <vt:lpstr>PowerPoint Presentation</vt:lpstr>
      <vt:lpstr>Tech Stack</vt:lpstr>
      <vt:lpstr>Challenges Faced</vt:lpstr>
      <vt:lpstr>Future Scope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Raghavendra Prasad B M</dc:creator>
  <cp:lastModifiedBy>sheikh hamzah</cp:lastModifiedBy>
  <cp:revision>14</cp:revision>
  <dcterms:created xsi:type="dcterms:W3CDTF">2025-12-01T05:54:45Z</dcterms:created>
  <dcterms:modified xsi:type="dcterms:W3CDTF">2025-12-05T00:08:42Z</dcterms:modified>
</cp:coreProperties>
</file>